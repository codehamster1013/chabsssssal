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730" y="-3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080000" y="1008000"/>
            <a:ext cx="2520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● </a:t>
            </a:r>
            <a:r>
              <a:rPr sz="24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한국코드페어</a:t>
            </a:r>
            <a:r>
              <a:rPr sz="24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2026 · </a:t>
            </a:r>
            <a:r>
              <a:rPr sz="24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SW공모전</a:t>
            </a:r>
            <a:r>
              <a:rPr sz="24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초등부</a:t>
            </a:r>
            <a:r>
              <a:rPr sz="24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· Physical Computing + SW</a:t>
            </a:r>
          </a:p>
        </p:txBody>
      </p: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08C86688-1527-7A08-3B9C-11BDA33073DC}"/>
              </a:ext>
            </a:extLst>
          </p:cNvPr>
          <p:cNvGrpSpPr/>
          <p:nvPr/>
        </p:nvGrpSpPr>
        <p:grpSpPr>
          <a:xfrm>
            <a:off x="1080000" y="1440000"/>
            <a:ext cx="1728000" cy="1728000"/>
            <a:chOff x="1080000" y="1440000"/>
            <a:chExt cx="1242000" cy="1242000"/>
          </a:xfrm>
        </p:grpSpPr>
        <p:sp>
          <p:nvSpPr>
            <p:cNvPr id="14" name="Rounded Rectangle 13"/>
            <p:cNvSpPr/>
            <p:nvPr/>
          </p:nvSpPr>
          <p:spPr>
            <a:xfrm>
              <a:off x="1080000" y="1440000"/>
              <a:ext cx="1008000" cy="1008000"/>
            </a:xfrm>
            <a:prstGeom prst="roundRect">
              <a:avLst>
                <a:gd name="adj" fmla="val 18000"/>
              </a:avLst>
            </a:prstGeom>
            <a:noFill/>
            <a:ln w="381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6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1854000" y="2214000"/>
              <a:ext cx="468000" cy="468000"/>
            </a:xfrm>
            <a:prstGeom prst="ellipse">
              <a:avLst/>
            </a:prstGeom>
            <a:solidFill>
              <a:srgbClr val="0FA37D"/>
            </a:solidFill>
            <a:ln w="2794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6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877360" y="1224000"/>
            <a:ext cx="25920000" cy="17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8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손가락</a:t>
            </a:r>
            <a:r>
              <a:rPr sz="138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13800" b="1" dirty="0" err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이끔이</a:t>
            </a:r>
            <a:endParaRPr sz="13800" b="1" dirty="0">
              <a:solidFill>
                <a:srgbClr val="0FA37D"/>
              </a:solidFill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96DA6539-F76D-17BB-DF85-89194A657129}"/>
              </a:ext>
            </a:extLst>
          </p:cNvPr>
          <p:cNvGrpSpPr/>
          <p:nvPr/>
        </p:nvGrpSpPr>
        <p:grpSpPr>
          <a:xfrm>
            <a:off x="1080000" y="2952000"/>
            <a:ext cx="28116000" cy="2988000"/>
            <a:chOff x="1080000" y="2952000"/>
            <a:chExt cx="28116000" cy="2988000"/>
          </a:xfrm>
        </p:grpSpPr>
        <p:sp>
          <p:nvSpPr>
            <p:cNvPr id="17" name="TextBox 16"/>
            <p:cNvSpPr txBox="1"/>
            <p:nvPr/>
          </p:nvSpPr>
          <p:spPr>
            <a:xfrm>
              <a:off x="1080000" y="2952000"/>
              <a:ext cx="24480000" cy="43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어떤</a:t>
              </a:r>
              <a:r>
                <a:rPr sz="28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키를</a:t>
              </a:r>
              <a:r>
                <a:rPr sz="28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눌렀는지</a:t>
              </a:r>
              <a:r>
                <a:rPr sz="28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말고</a:t>
              </a:r>
              <a:r>
                <a:rPr sz="28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, </a:t>
              </a:r>
              <a:r>
                <a:rPr sz="28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어떤</a:t>
              </a:r>
              <a:r>
                <a:rPr sz="28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손가락으로</a:t>
              </a:r>
              <a:r>
                <a:rPr sz="28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눌렀는지까지</a:t>
              </a:r>
              <a:r>
                <a:rPr sz="28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알아내는</a:t>
              </a:r>
              <a:r>
                <a:rPr sz="28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손가락</a:t>
              </a:r>
              <a:r>
                <a:rPr sz="28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타법</a:t>
              </a:r>
              <a:r>
                <a:rPr sz="28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교정기예요</a:t>
              </a:r>
              <a:r>
                <a:rPr sz="28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.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080000" y="3636000"/>
              <a:ext cx="3780000" cy="360000"/>
            </a:xfrm>
            <a:prstGeom prst="roundRect">
              <a:avLst>
                <a:gd name="adj" fmla="val 50000"/>
              </a:avLst>
            </a:prstGeom>
            <a:solidFill>
              <a:srgbClr val="F2FBF7"/>
            </a:solidFill>
            <a:ln w="1143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52000" y="3636000"/>
              <a:ext cx="3636000" cy="36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6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팀명  찹쌀선과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040000" y="3636000"/>
              <a:ext cx="7020000" cy="360000"/>
            </a:xfrm>
            <a:prstGeom prst="roundRect">
              <a:avLst>
                <a:gd name="adj" fmla="val 50000"/>
              </a:avLst>
            </a:prstGeom>
            <a:solidFill>
              <a:srgbClr val="F2FBF7"/>
            </a:solidFill>
            <a:ln w="1143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112000" y="3636000"/>
              <a:ext cx="6876000" cy="36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6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팀원</a:t>
              </a:r>
              <a:r>
                <a:rPr sz="16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 채성 · </a:t>
              </a:r>
              <a:r>
                <a:rPr sz="16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윤슬초등학교</a:t>
              </a:r>
              <a:r>
                <a:rPr sz="16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6학년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2240000" y="3636000"/>
              <a:ext cx="7560000" cy="360000"/>
            </a:xfrm>
            <a:prstGeom prst="roundRect">
              <a:avLst>
                <a:gd name="adj" fmla="val 50000"/>
              </a:avLst>
            </a:prstGeom>
            <a:solidFill>
              <a:srgbClr val="F2FBF7"/>
            </a:solidFill>
            <a:ln w="1143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2312000" y="3636000"/>
              <a:ext cx="7416000" cy="36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6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지도교사  장경순 · 디랩코딩광진학원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9980000" y="3636000"/>
              <a:ext cx="9216000" cy="360000"/>
            </a:xfrm>
            <a:prstGeom prst="roundRect">
              <a:avLst>
                <a:gd name="adj" fmla="val 50000"/>
              </a:avLst>
            </a:prstGeom>
            <a:solidFill>
              <a:srgbClr val="D3F3E8"/>
            </a:solidFill>
            <a:ln w="11430">
              <a:solidFill>
                <a:srgbClr val="0FA37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0052000" y="3636000"/>
              <a:ext cx="9072000" cy="36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6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🔗  라이브 데모 : typo-game-site.vercel.app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80000" y="4212000"/>
              <a:ext cx="28116000" cy="17280"/>
            </a:xfrm>
            <a:prstGeom prst="rect">
              <a:avLst/>
            </a:prstGeom>
            <a:solidFill>
              <a:srgbClr val="7FD1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80000" y="4572000"/>
              <a:ext cx="2160000" cy="36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b="1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목차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80000" y="5004000"/>
              <a:ext cx="4506000" cy="936000"/>
            </a:xfrm>
            <a:prstGeom prst="roundRect">
              <a:avLst>
                <a:gd name="adj" fmla="val 16000"/>
              </a:avLst>
            </a:prstGeom>
            <a:solidFill>
              <a:srgbClr val="F2FBF7"/>
            </a:solidFill>
            <a:ln w="1016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96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224000" y="5112000"/>
              <a:ext cx="4218000" cy="39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400" b="1">
                  <a:solidFill>
                    <a:srgbClr val="0FA37D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01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24000" y="5508000"/>
              <a:ext cx="4218000" cy="39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1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만들게</a:t>
              </a:r>
              <a:r>
                <a:rPr sz="11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된 </a:t>
              </a:r>
              <a:r>
                <a:rPr sz="11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이유</a:t>
              </a:r>
              <a:endParaRPr sz="1100" b="1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5802000" y="5004000"/>
              <a:ext cx="4506000" cy="936000"/>
            </a:xfrm>
            <a:prstGeom prst="roundRect">
              <a:avLst>
                <a:gd name="adj" fmla="val 16000"/>
              </a:avLst>
            </a:prstGeom>
            <a:solidFill>
              <a:srgbClr val="F2FBF7"/>
            </a:solidFill>
            <a:ln w="1016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946000" y="5112000"/>
              <a:ext cx="4218000" cy="39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400" b="1">
                  <a:solidFill>
                    <a:srgbClr val="0FA37D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02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946000" y="5508000"/>
              <a:ext cx="4218000" cy="39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타사 제품과의 비교점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0524000" y="5004000"/>
              <a:ext cx="4506000" cy="936000"/>
            </a:xfrm>
            <a:prstGeom prst="roundRect">
              <a:avLst>
                <a:gd name="adj" fmla="val 16000"/>
              </a:avLst>
            </a:prstGeom>
            <a:solidFill>
              <a:srgbClr val="F2FBF7"/>
            </a:solidFill>
            <a:ln w="1016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668000" y="5112000"/>
              <a:ext cx="4218000" cy="39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400" b="1">
                  <a:solidFill>
                    <a:srgbClr val="0FA37D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03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668000" y="5508000"/>
              <a:ext cx="4218000" cy="39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인식 방식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5246000" y="5004000"/>
              <a:ext cx="4506000" cy="936000"/>
            </a:xfrm>
            <a:prstGeom prst="roundRect">
              <a:avLst>
                <a:gd name="adj" fmla="val 16000"/>
              </a:avLst>
            </a:prstGeom>
            <a:solidFill>
              <a:srgbClr val="F2FBF7"/>
            </a:solidFill>
            <a:ln w="1016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5390000" y="5112000"/>
              <a:ext cx="4218000" cy="39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400" b="1">
                  <a:solidFill>
                    <a:srgbClr val="0FA37D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04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5390000" y="5508000"/>
              <a:ext cx="4218000" cy="39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새로운 앱의 지표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9968000" y="5004000"/>
              <a:ext cx="4506000" cy="936000"/>
            </a:xfrm>
            <a:prstGeom prst="roundRect">
              <a:avLst>
                <a:gd name="adj" fmla="val 16000"/>
              </a:avLst>
            </a:prstGeom>
            <a:solidFill>
              <a:srgbClr val="F2FBF7"/>
            </a:solidFill>
            <a:ln w="1016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0112000" y="5112000"/>
              <a:ext cx="4218000" cy="39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400" b="1">
                  <a:solidFill>
                    <a:srgbClr val="0FA37D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05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0112000" y="5508000"/>
              <a:ext cx="4218000" cy="39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만드는 계획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24690000" y="5004000"/>
              <a:ext cx="4506000" cy="936000"/>
            </a:xfrm>
            <a:prstGeom prst="roundRect">
              <a:avLst>
                <a:gd name="adj" fmla="val 16000"/>
              </a:avLst>
            </a:prstGeom>
            <a:solidFill>
              <a:srgbClr val="F2FBF7"/>
            </a:solidFill>
            <a:ln w="1016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4834000" y="5112000"/>
              <a:ext cx="4218000" cy="39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400" b="1">
                  <a:solidFill>
                    <a:srgbClr val="0FA37D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06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4834000" y="5508000"/>
              <a:ext cx="4218000" cy="39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테스트와 기대 효과</a:t>
              </a: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F01C9E28-1130-2270-5CF2-061176FF89E1}"/>
              </a:ext>
            </a:extLst>
          </p:cNvPr>
          <p:cNvGrpSpPr/>
          <p:nvPr/>
        </p:nvGrpSpPr>
        <p:grpSpPr>
          <a:xfrm>
            <a:off x="1080000" y="6300000"/>
            <a:ext cx="16920000" cy="2588682"/>
            <a:chOff x="1080000" y="6300000"/>
            <a:chExt cx="16920000" cy="2588682"/>
          </a:xfrm>
        </p:grpSpPr>
        <p:sp>
          <p:nvSpPr>
            <p:cNvPr id="46" name="TextBox 45"/>
            <p:cNvSpPr txBox="1"/>
            <p:nvPr/>
          </p:nvSpPr>
          <p:spPr>
            <a:xfrm>
              <a:off x="1080000" y="6300000"/>
              <a:ext cx="1656000" cy="936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8000" b="1">
                  <a:solidFill>
                    <a:srgbClr val="0FA37D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01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808000" y="6372000"/>
              <a:ext cx="11031359" cy="936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40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만들게 된 이유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080000" y="7272000"/>
              <a:ext cx="16920000" cy="3708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2400" b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독수리 타법은 화면만 보고 손가락 한두 개로 콕콕 찍는 습관이에요. 느리고, 자주 틀려요.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80000" y="7894894"/>
              <a:ext cx="16920000" cy="3708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24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한 번 </a:t>
              </a:r>
              <a:r>
                <a:rPr sz="24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손에</a:t>
              </a:r>
              <a:r>
                <a:rPr sz="24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굳으면</a:t>
              </a:r>
              <a:r>
                <a:rPr sz="24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고치기</a:t>
              </a:r>
              <a:r>
                <a:rPr sz="24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정말</a:t>
              </a:r>
              <a:r>
                <a:rPr sz="24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어려워요</a:t>
              </a:r>
              <a:r>
                <a:rPr sz="24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. </a:t>
              </a:r>
              <a:r>
                <a:rPr sz="24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초등학생</a:t>
              </a:r>
              <a:r>
                <a:rPr sz="24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때가</a:t>
              </a:r>
              <a:r>
                <a:rPr sz="24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고칠</a:t>
              </a:r>
              <a:r>
                <a:rPr sz="24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수 </a:t>
              </a:r>
              <a:r>
                <a:rPr sz="24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있는</a:t>
              </a:r>
              <a:r>
                <a:rPr sz="24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골든타임이에요</a:t>
              </a:r>
              <a:r>
                <a:rPr sz="24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!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80000" y="8517788"/>
              <a:ext cx="16920000" cy="3708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2400" b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한컴타자 같은 기존 프로그램은 ‘어떤 키’를 눌렀는지만 알아요. 손가락이 틀려도 글자만 맞으면 그냥 통과예요.</a:t>
              </a:r>
            </a:p>
          </p:txBody>
        </p: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E660C403-0EB1-EE38-D414-C222F87487A0}"/>
              </a:ext>
            </a:extLst>
          </p:cNvPr>
          <p:cNvGrpSpPr/>
          <p:nvPr/>
        </p:nvGrpSpPr>
        <p:grpSpPr>
          <a:xfrm>
            <a:off x="18720000" y="6372000"/>
            <a:ext cx="10476000" cy="4140000"/>
            <a:chOff x="18720000" y="6372000"/>
            <a:chExt cx="10476000" cy="4140000"/>
          </a:xfrm>
        </p:grpSpPr>
        <p:sp>
          <p:nvSpPr>
            <p:cNvPr id="48" name="TextBox 47"/>
            <p:cNvSpPr txBox="1"/>
            <p:nvPr/>
          </p:nvSpPr>
          <p:spPr>
            <a:xfrm>
              <a:off x="23148000" y="6372000"/>
              <a:ext cx="6048000" cy="864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>
                <a:lnSpc>
                  <a:spcPct val="135000"/>
                </a:lnSpc>
                <a:spcAft>
                  <a:spcPts val="0"/>
                </a:spcAft>
              </a:pPr>
              <a:r>
                <a:rPr sz="2400" b="1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WHY WE MADE IT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18720000" y="7272000"/>
              <a:ext cx="10476000" cy="1512000"/>
            </a:xfrm>
            <a:prstGeom prst="roundRect">
              <a:avLst>
                <a:gd name="adj" fmla="val 12000"/>
              </a:avLst>
            </a:prstGeom>
            <a:solidFill>
              <a:srgbClr val="F2FBF7"/>
            </a:solidFill>
            <a:ln w="1143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8936000" y="7416000"/>
              <a:ext cx="10044000" cy="288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b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미국 고등학생 타자 수업 이수율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8936000" y="7617788"/>
              <a:ext cx="10044000" cy="648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4400" b="1" dirty="0">
                  <a:solidFill>
                    <a:srgbClr val="BB3B34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44%</a:t>
              </a:r>
              <a:r>
                <a:rPr sz="2800" b="0" dirty="0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 →  </a:t>
              </a:r>
              <a:r>
                <a:rPr sz="4400" b="1" dirty="0">
                  <a:solidFill>
                    <a:srgbClr val="BB3B34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2.5%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8936000" y="8424000"/>
              <a:ext cx="10044000" cy="324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2000년 → 2019년 · 매거진한경(2025) 인용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8720000" y="9072000"/>
              <a:ext cx="10476000" cy="1440000"/>
            </a:xfrm>
            <a:prstGeom prst="roundRect">
              <a:avLst>
                <a:gd name="adj" fmla="val 12000"/>
              </a:avLst>
            </a:prstGeom>
            <a:solidFill>
              <a:srgbClr val="D3F3E8"/>
            </a:solidFill>
            <a:ln w="11430">
              <a:solidFill>
                <a:srgbClr val="0FA37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9008000" y="9198000"/>
              <a:ext cx="10044000" cy="79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“</a:t>
              </a:r>
              <a:r>
                <a:rPr sz="28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정확한</a:t>
              </a:r>
              <a:r>
                <a:rPr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손가락</a:t>
              </a:r>
              <a:r>
                <a:rPr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습관을</a:t>
              </a:r>
              <a:r>
                <a:rPr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먼저</a:t>
              </a:r>
              <a:r>
                <a:rPr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익히면</a:t>
              </a:r>
              <a:r>
                <a:rPr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,</a:t>
              </a:r>
              <a:r>
                <a:rPr lang="en-US"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속도는</a:t>
              </a:r>
              <a:r>
                <a:rPr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저절로</a:t>
              </a:r>
              <a:r>
                <a:rPr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따라온다</a:t>
              </a:r>
              <a:r>
                <a:rPr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.”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9152000" y="9864000"/>
              <a:ext cx="10044000" cy="324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0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터치</a:t>
              </a:r>
              <a:r>
                <a:rPr sz="20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0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타이핑</a:t>
              </a:r>
              <a:r>
                <a:rPr sz="20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(Touch Typing) </a:t>
              </a:r>
              <a:r>
                <a:rPr sz="20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교육</a:t>
              </a:r>
              <a:r>
                <a:rPr sz="20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0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연구</a:t>
              </a:r>
              <a:r>
                <a:rPr sz="20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0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기반</a:t>
              </a:r>
              <a:endParaRPr sz="20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04C5A5AE-8A52-F5EC-AB77-0595A6A5A950}"/>
              </a:ext>
            </a:extLst>
          </p:cNvPr>
          <p:cNvGrpSpPr/>
          <p:nvPr/>
        </p:nvGrpSpPr>
        <p:grpSpPr>
          <a:xfrm>
            <a:off x="1080000" y="10944000"/>
            <a:ext cx="28116000" cy="6372000"/>
            <a:chOff x="1080000" y="10944000"/>
            <a:chExt cx="28116000" cy="6372000"/>
          </a:xfrm>
        </p:grpSpPr>
        <p:sp>
          <p:nvSpPr>
            <p:cNvPr id="59" name="TextBox 58"/>
            <p:cNvSpPr txBox="1"/>
            <p:nvPr/>
          </p:nvSpPr>
          <p:spPr>
            <a:xfrm>
              <a:off x="1080000" y="10944000"/>
              <a:ext cx="1656000" cy="936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9600" b="1">
                  <a:solidFill>
                    <a:srgbClr val="0FA37D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02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808000" y="11016000"/>
              <a:ext cx="20160000" cy="864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48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타사 제품과의 비교점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3148000" y="11016000"/>
              <a:ext cx="6048000" cy="864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>
                <a:lnSpc>
                  <a:spcPct val="135000"/>
                </a:lnSpc>
                <a:spcAft>
                  <a:spcPts val="0"/>
                </a:spcAft>
              </a:pPr>
              <a:r>
                <a:rPr sz="2400" b="1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VS OTHER PRODUCTS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1080000" y="11916000"/>
              <a:ext cx="28116000" cy="5400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3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728000" y="12492000"/>
              <a:ext cx="6705057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400" b="1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항목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577057" y="12492000"/>
              <a:ext cx="4585111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400" b="1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한컴타자 등 기존 SW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3306168" y="12492000"/>
              <a:ext cx="4585111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400" b="1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손가락 이끔이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728000" y="13140000"/>
              <a:ext cx="6705057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타수·정확도 측정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577057" y="13140000"/>
              <a:ext cx="4585111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O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3306168" y="13140000"/>
              <a:ext cx="4585111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1">
                  <a:solidFill>
                    <a:srgbClr val="1F8A4C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O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656000" y="13788000"/>
              <a:ext cx="15731279" cy="14400"/>
            </a:xfrm>
            <a:prstGeom prst="rect">
              <a:avLst/>
            </a:prstGeom>
            <a:solidFill>
              <a:srgbClr val="BFE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728000" y="13788000"/>
              <a:ext cx="6705057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어떤 손가락으로 쳤나 (핵심)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577057" y="13788000"/>
              <a:ext cx="4585111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0">
                  <a:solidFill>
                    <a:srgbClr val="BB3B34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X 알 수 없음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3306168" y="13788000"/>
              <a:ext cx="4585111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1">
                  <a:solidFill>
                    <a:srgbClr val="1F8A4C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O 아두이노가 감지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656000" y="14436000"/>
              <a:ext cx="15731279" cy="14400"/>
            </a:xfrm>
            <a:prstGeom prst="rect">
              <a:avLst/>
            </a:prstGeom>
            <a:solidFill>
              <a:srgbClr val="BFE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728000" y="14436000"/>
              <a:ext cx="6705057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올바른 운지율 측정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8577057" y="14436000"/>
              <a:ext cx="4585111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0">
                  <a:solidFill>
                    <a:srgbClr val="BB3B34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X 불가능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3306168" y="14436000"/>
              <a:ext cx="4585111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1">
                  <a:solidFill>
                    <a:srgbClr val="1F8A4C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O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656000" y="15084000"/>
              <a:ext cx="15731279" cy="14400"/>
            </a:xfrm>
            <a:prstGeom prst="rect">
              <a:avLst/>
            </a:prstGeom>
            <a:solidFill>
              <a:srgbClr val="BFE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728000" y="15084000"/>
              <a:ext cx="6705057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형태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8577057" y="15084000"/>
              <a:ext cx="4585111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순수 SW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3306168" y="15084000"/>
              <a:ext cx="4585111" cy="64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1">
                  <a:solidFill>
                    <a:srgbClr val="1F8A4C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HW + SW 통합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656000" y="15732000"/>
              <a:ext cx="15731279" cy="14400"/>
            </a:xfrm>
            <a:prstGeom prst="rect">
              <a:avLst/>
            </a:prstGeom>
            <a:solidFill>
              <a:srgbClr val="BFE8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8323280" y="12708000"/>
              <a:ext cx="144000" cy="2086523"/>
            </a:xfrm>
            <a:prstGeom prst="rect">
              <a:avLst/>
            </a:prstGeom>
            <a:solidFill>
              <a:srgbClr val="C9601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8720000" y="12679754"/>
              <a:ext cx="9864720" cy="144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40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“</a:t>
              </a:r>
              <a:r>
                <a:rPr sz="40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한컴타자가</a:t>
              </a:r>
              <a:r>
                <a:rPr lang="en-US" sz="40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40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못 </a:t>
              </a:r>
              <a:r>
                <a:rPr sz="40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하는</a:t>
              </a:r>
              <a:r>
                <a:rPr sz="40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40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것을</a:t>
              </a:r>
              <a:r>
                <a:rPr sz="40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40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하는</a:t>
              </a:r>
              <a:r>
                <a:rPr lang="en-US" sz="40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40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한컴타자</a:t>
              </a:r>
              <a:r>
                <a:rPr sz="40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”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8932640" y="13651754"/>
              <a:ext cx="9864720" cy="93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기존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SW는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‘키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정확도’까지만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봅니다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.</a:t>
              </a:r>
              <a:r>
                <a:rPr lang="en-US"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손가락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이끔이는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손가락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그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자체를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
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감지하는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유일한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통합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시스템이에요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.</a:t>
              </a: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23148000" y="17820000"/>
            <a:ext cx="6048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HOW IT RECOGNIZES</a:t>
            </a: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1A3B13D6-D402-D403-5E62-69A02AD9F2D3}"/>
              </a:ext>
            </a:extLst>
          </p:cNvPr>
          <p:cNvGrpSpPr/>
          <p:nvPr/>
        </p:nvGrpSpPr>
        <p:grpSpPr>
          <a:xfrm>
            <a:off x="665999" y="18183578"/>
            <a:ext cx="19332000" cy="2957788"/>
            <a:chOff x="1080000" y="17708343"/>
            <a:chExt cx="11160000" cy="2957788"/>
          </a:xfrm>
        </p:grpSpPr>
        <p:sp>
          <p:nvSpPr>
            <p:cNvPr id="85" name="TextBox 84"/>
            <p:cNvSpPr txBox="1"/>
            <p:nvPr/>
          </p:nvSpPr>
          <p:spPr>
            <a:xfrm>
              <a:off x="1080000" y="17748000"/>
              <a:ext cx="1656000" cy="936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8800" b="1">
                  <a:solidFill>
                    <a:srgbClr val="0FA37D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03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945232" y="17708343"/>
              <a:ext cx="5360640" cy="864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44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인식</a:t>
              </a:r>
              <a:r>
                <a:rPr sz="44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44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방식</a:t>
              </a:r>
              <a:endParaRPr sz="44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080000" y="18684000"/>
              <a:ext cx="11160000" cy="3981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키보드는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‘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어떤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키’만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알아요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. 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손가락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이끔이는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아두이노로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‘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어떤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손가락’까지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알아내서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, 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화면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손그림에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실시간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색깔로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0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알려줘요</a:t>
              </a:r>
              <a:r>
                <a:rPr sz="2800" b="0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.</a:t>
              </a:r>
            </a:p>
          </p:txBody>
        </p:sp>
        <p:sp>
          <p:nvSpPr>
            <p:cNvPr id="89" name="Oval 88"/>
            <p:cNvSpPr/>
            <p:nvPr/>
          </p:nvSpPr>
          <p:spPr>
            <a:xfrm>
              <a:off x="1080000" y="19370131"/>
              <a:ext cx="288000" cy="288000"/>
            </a:xfrm>
            <a:prstGeom prst="ellipse">
              <a:avLst/>
            </a:prstGeom>
            <a:solidFill>
              <a:srgbClr val="0FA3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080000" y="19370131"/>
              <a:ext cx="288000" cy="28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1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512000" y="19260000"/>
              <a:ext cx="9156000" cy="39813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400" b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손가락마다 다른 전선을 연결해 손가락을 구분해요 (감지부, HW)</a:t>
              </a:r>
            </a:p>
          </p:txBody>
        </p:sp>
        <p:sp>
          <p:nvSpPr>
            <p:cNvPr id="92" name="Oval 91"/>
            <p:cNvSpPr/>
            <p:nvPr/>
          </p:nvSpPr>
          <p:spPr>
            <a:xfrm>
              <a:off x="1080000" y="19874131"/>
              <a:ext cx="288000" cy="288000"/>
            </a:xfrm>
            <a:prstGeom prst="ellipse">
              <a:avLst/>
            </a:prstGeom>
            <a:solidFill>
              <a:srgbClr val="0FA3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080000" y="19874131"/>
              <a:ext cx="288000" cy="28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2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512000" y="19874131"/>
              <a:ext cx="10368000" cy="28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400" b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지금 쳐야 할 손가락을 화면 손그림 색으로 안내해요 (연습·측정부, SW)</a:t>
              </a:r>
            </a:p>
          </p:txBody>
        </p:sp>
        <p:sp>
          <p:nvSpPr>
            <p:cNvPr id="95" name="Oval 94"/>
            <p:cNvSpPr/>
            <p:nvPr/>
          </p:nvSpPr>
          <p:spPr>
            <a:xfrm>
              <a:off x="1080000" y="20378131"/>
              <a:ext cx="288000" cy="288000"/>
            </a:xfrm>
            <a:prstGeom prst="ellipse">
              <a:avLst/>
            </a:prstGeom>
            <a:solidFill>
              <a:srgbClr val="0FA3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080000" y="20378131"/>
              <a:ext cx="288000" cy="28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3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512000" y="20378131"/>
              <a:ext cx="10368000" cy="288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400" b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키보드 신호 + 아두이노 신호를 하나로 합쳐 판정해요 (연동)</a:t>
              </a: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E29DF51-E2D0-217A-C4B9-3E2857935F89}"/>
              </a:ext>
            </a:extLst>
          </p:cNvPr>
          <p:cNvGrpSpPr/>
          <p:nvPr/>
        </p:nvGrpSpPr>
        <p:grpSpPr>
          <a:xfrm>
            <a:off x="1146399" y="21733144"/>
            <a:ext cx="16668000" cy="9108000"/>
            <a:chOff x="12528000" y="18720000"/>
            <a:chExt cx="16668000" cy="9108000"/>
          </a:xfrm>
        </p:grpSpPr>
        <p:sp>
          <p:nvSpPr>
            <p:cNvPr id="98" name="Rounded Rectangle 97"/>
            <p:cNvSpPr/>
            <p:nvPr/>
          </p:nvSpPr>
          <p:spPr>
            <a:xfrm>
              <a:off x="12528000" y="18720000"/>
              <a:ext cx="16668000" cy="9108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3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2744000" y="18936000"/>
              <a:ext cx="16236000" cy="25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750" b="0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실제 웹앱 화면 캡처 · typo-game-site.vercel.app</a:t>
              </a:r>
            </a:p>
          </p:txBody>
        </p:sp>
        <p:pic>
          <p:nvPicPr>
            <p:cNvPr id="100" name="Picture 99" descr="hand_crop_v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44000" y="19188000"/>
              <a:ext cx="16236000" cy="7128000"/>
            </a:xfrm>
            <a:prstGeom prst="rect">
              <a:avLst/>
            </a:prstGeom>
          </p:spPr>
        </p:pic>
        <p:sp>
          <p:nvSpPr>
            <p:cNvPr id="101" name="Rounded Rectangle 100"/>
            <p:cNvSpPr/>
            <p:nvPr/>
          </p:nvSpPr>
          <p:spPr>
            <a:xfrm>
              <a:off x="20120040" y="20180159"/>
              <a:ext cx="1656000" cy="396000"/>
            </a:xfrm>
            <a:prstGeom prst="roundRect">
              <a:avLst>
                <a:gd name="adj" fmla="val 50000"/>
              </a:avLst>
            </a:prstGeom>
            <a:solidFill>
              <a:srgbClr val="EAF1FD"/>
            </a:solidFill>
            <a:ln w="10160">
              <a:solidFill>
                <a:srgbClr val="3B6F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02" name="Oval 101"/>
            <p:cNvSpPr/>
            <p:nvPr/>
          </p:nvSpPr>
          <p:spPr>
            <a:xfrm>
              <a:off x="20255040" y="20297159"/>
              <a:ext cx="162000" cy="162000"/>
            </a:xfrm>
            <a:prstGeom prst="ellipse">
              <a:avLst/>
            </a:prstGeom>
            <a:solidFill>
              <a:srgbClr val="3B6F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20480040" y="20180159"/>
              <a:ext cx="1260000" cy="396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800" b="1">
                  <a:solidFill>
                    <a:srgbClr val="1D4FC4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지금 쳐야 할 손가락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12744000" y="26424000"/>
              <a:ext cx="8118000" cy="324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850" b="1">
                  <a:solidFill>
                    <a:srgbClr val="1F8A4C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●  정확한 손가락 → 초록 LED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862000" y="26424000"/>
              <a:ext cx="8118000" cy="324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850" b="1">
                  <a:solidFill>
                    <a:srgbClr val="BB3B34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●  다른 손가락(독수리) → 빨강 LED + 부저</a:t>
              </a:r>
            </a:p>
          </p:txBody>
        </p:sp>
        <p:sp>
          <p:nvSpPr>
            <p:cNvPr id="106" name="Oval 105"/>
            <p:cNvSpPr/>
            <p:nvPr/>
          </p:nvSpPr>
          <p:spPr>
            <a:xfrm>
              <a:off x="13502000" y="26784000"/>
              <a:ext cx="288000" cy="288000"/>
            </a:xfrm>
            <a:prstGeom prst="ellipse">
              <a:avLst/>
            </a:prstGeom>
            <a:solidFill>
              <a:srgbClr val="7E57C2"/>
            </a:solidFill>
            <a:ln w="7620">
              <a:solidFill>
                <a:srgbClr val="E5E5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2744000" y="27108000"/>
              <a:ext cx="1804000" cy="25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9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왼새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2744000" y="27360000"/>
              <a:ext cx="1804000" cy="36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630" b="0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Q A Z</a:t>
              </a:r>
            </a:p>
          </p:txBody>
        </p:sp>
        <p:sp>
          <p:nvSpPr>
            <p:cNvPr id="109" name="Oval 108"/>
            <p:cNvSpPr/>
            <p:nvPr/>
          </p:nvSpPr>
          <p:spPr>
            <a:xfrm>
              <a:off x="15305999" y="26784000"/>
              <a:ext cx="288000" cy="288000"/>
            </a:xfrm>
            <a:prstGeom prst="ellipse">
              <a:avLst/>
            </a:prstGeom>
            <a:solidFill>
              <a:srgbClr val="5C6BC0"/>
            </a:solidFill>
            <a:ln w="7620">
              <a:solidFill>
                <a:srgbClr val="E5E5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14548000" y="27108000"/>
              <a:ext cx="1804000" cy="25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9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왼약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14548000" y="27360000"/>
              <a:ext cx="1804000" cy="36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630" b="0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W S X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7110000" y="26784000"/>
              <a:ext cx="288000" cy="288000"/>
            </a:xfrm>
            <a:prstGeom prst="ellipse">
              <a:avLst/>
            </a:prstGeom>
            <a:solidFill>
              <a:srgbClr val="42A5F5"/>
            </a:solidFill>
            <a:ln w="7620">
              <a:solidFill>
                <a:srgbClr val="E5E5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6352000" y="27108000"/>
              <a:ext cx="1804000" cy="25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9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왼중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16352000" y="27360000"/>
              <a:ext cx="1804000" cy="36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630" b="0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E D C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18914000" y="26784000"/>
              <a:ext cx="288000" cy="288000"/>
            </a:xfrm>
            <a:prstGeom prst="ellipse">
              <a:avLst/>
            </a:prstGeom>
            <a:solidFill>
              <a:srgbClr val="26A69A"/>
            </a:solidFill>
            <a:ln w="7620">
              <a:solidFill>
                <a:srgbClr val="E5E5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8156000" y="27108000"/>
              <a:ext cx="1804000" cy="25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9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왼검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8156000" y="27360000"/>
              <a:ext cx="1804000" cy="36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630" b="0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R T F G V B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20718000" y="26784000"/>
              <a:ext cx="288000" cy="288000"/>
            </a:xfrm>
            <a:prstGeom prst="ellipse">
              <a:avLst/>
            </a:prstGeom>
            <a:solidFill>
              <a:srgbClr val="8D99AE"/>
            </a:solidFill>
            <a:ln w="7620">
              <a:solidFill>
                <a:srgbClr val="E5E5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9960000" y="27108000"/>
              <a:ext cx="1804000" cy="25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9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엄지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9960000" y="27360000"/>
              <a:ext cx="1804000" cy="36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630" b="0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Space</a:t>
              </a:r>
            </a:p>
          </p:txBody>
        </p:sp>
        <p:sp>
          <p:nvSpPr>
            <p:cNvPr id="121" name="Oval 120"/>
            <p:cNvSpPr/>
            <p:nvPr/>
          </p:nvSpPr>
          <p:spPr>
            <a:xfrm>
              <a:off x="22522000" y="26784000"/>
              <a:ext cx="288000" cy="288000"/>
            </a:xfrm>
            <a:prstGeom prst="ellipse">
              <a:avLst/>
            </a:prstGeom>
            <a:solidFill>
              <a:srgbClr val="66BB6A"/>
            </a:solidFill>
            <a:ln w="7620">
              <a:solidFill>
                <a:srgbClr val="E5E5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21764000" y="27108000"/>
              <a:ext cx="1804000" cy="25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9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오검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21764000" y="27360000"/>
              <a:ext cx="1804000" cy="36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630" b="0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Y U H J N M</a:t>
              </a:r>
            </a:p>
          </p:txBody>
        </p:sp>
        <p:sp>
          <p:nvSpPr>
            <p:cNvPr id="124" name="Oval 123"/>
            <p:cNvSpPr/>
            <p:nvPr/>
          </p:nvSpPr>
          <p:spPr>
            <a:xfrm>
              <a:off x="24326000" y="26784000"/>
              <a:ext cx="288000" cy="288000"/>
            </a:xfrm>
            <a:prstGeom prst="ellipse">
              <a:avLst/>
            </a:prstGeom>
            <a:solidFill>
              <a:srgbClr val="B08800"/>
            </a:solidFill>
            <a:ln w="7620">
              <a:solidFill>
                <a:srgbClr val="E5E5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23568000" y="27108000"/>
              <a:ext cx="1804000" cy="25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9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오중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23568000" y="27360000"/>
              <a:ext cx="1804000" cy="36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630" b="0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I K ,</a:t>
              </a:r>
            </a:p>
          </p:txBody>
        </p:sp>
        <p:sp>
          <p:nvSpPr>
            <p:cNvPr id="127" name="Oval 126"/>
            <p:cNvSpPr/>
            <p:nvPr/>
          </p:nvSpPr>
          <p:spPr>
            <a:xfrm>
              <a:off x="26130000" y="26784000"/>
              <a:ext cx="288000" cy="288000"/>
            </a:xfrm>
            <a:prstGeom prst="ellipse">
              <a:avLst/>
            </a:prstGeom>
            <a:solidFill>
              <a:srgbClr val="EF8E3A"/>
            </a:solidFill>
            <a:ln w="7620">
              <a:solidFill>
                <a:srgbClr val="E5E5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5372000" y="27108000"/>
              <a:ext cx="1804000" cy="25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9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오약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5372000" y="27360000"/>
              <a:ext cx="1804000" cy="36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630" b="0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O L .</a:t>
              </a:r>
            </a:p>
          </p:txBody>
        </p:sp>
        <p:sp>
          <p:nvSpPr>
            <p:cNvPr id="130" name="Oval 129"/>
            <p:cNvSpPr/>
            <p:nvPr/>
          </p:nvSpPr>
          <p:spPr>
            <a:xfrm>
              <a:off x="27934000" y="26784000"/>
              <a:ext cx="288000" cy="288000"/>
            </a:xfrm>
            <a:prstGeom prst="ellipse">
              <a:avLst/>
            </a:prstGeom>
            <a:solidFill>
              <a:srgbClr val="EC6A8A"/>
            </a:solidFill>
            <a:ln w="7620">
              <a:solidFill>
                <a:srgbClr val="E5E5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176000" y="27108000"/>
              <a:ext cx="1804000" cy="25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9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오새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7176000" y="27360000"/>
              <a:ext cx="1804000" cy="36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35000"/>
                </a:lnSpc>
                <a:spcAft>
                  <a:spcPts val="0"/>
                </a:spcAft>
              </a:pPr>
              <a:r>
                <a:rPr sz="630" b="0">
                  <a:solidFill>
                    <a:srgbClr val="585858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P ; /</a:t>
              </a:r>
            </a:p>
          </p:txBody>
        </p:sp>
      </p:grpSp>
      <p:sp>
        <p:nvSpPr>
          <p:cNvPr id="135" name="TextBox 134"/>
          <p:cNvSpPr txBox="1"/>
          <p:nvPr/>
        </p:nvSpPr>
        <p:spPr>
          <a:xfrm>
            <a:off x="5999040" y="38595911"/>
            <a:ext cx="13194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매트릭스</a:t>
            </a:r>
            <a:r>
              <a:rPr sz="24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스캔</a:t>
            </a:r>
            <a:r>
              <a:rPr sz="24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— </a:t>
            </a:r>
            <a:r>
              <a:rPr sz="24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손가락</a:t>
            </a:r>
            <a:r>
              <a:rPr sz="24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× </a:t>
            </a:r>
            <a:r>
              <a:rPr sz="24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키구역</a:t>
            </a:r>
            <a:endParaRPr sz="2400" b="1" dirty="0">
              <a:solidFill>
                <a:srgbClr val="000000"/>
              </a:solidFill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1B3FB6C9-8F2F-D2D1-8436-C87EA214EC5B}"/>
              </a:ext>
            </a:extLst>
          </p:cNvPr>
          <p:cNvGrpSpPr/>
          <p:nvPr/>
        </p:nvGrpSpPr>
        <p:grpSpPr>
          <a:xfrm>
            <a:off x="292493" y="33813186"/>
            <a:ext cx="16281127" cy="6093370"/>
            <a:chOff x="562057" y="34645078"/>
            <a:chExt cx="16281127" cy="6093370"/>
          </a:xfrm>
        </p:grpSpPr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CB0B84B0-8D9D-BB56-D7F2-C2020FE9F563}"/>
                </a:ext>
              </a:extLst>
            </p:cNvPr>
            <p:cNvGrpSpPr/>
            <p:nvPr/>
          </p:nvGrpSpPr>
          <p:grpSpPr>
            <a:xfrm>
              <a:off x="562057" y="34645078"/>
              <a:ext cx="16030000" cy="6093370"/>
              <a:chOff x="1080000" y="28260000"/>
              <a:chExt cx="7497057" cy="2860080"/>
            </a:xfrm>
          </p:grpSpPr>
          <p:sp>
            <p:nvSpPr>
              <p:cNvPr id="133" name="Rounded Rectangle 132"/>
              <p:cNvSpPr/>
              <p:nvPr/>
            </p:nvSpPr>
            <p:spPr>
              <a:xfrm>
                <a:off x="1080000" y="28260000"/>
                <a:ext cx="7497057" cy="286008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1143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37" name="TextBox 136"/>
              <p:cNvSpPr txBox="1"/>
              <p:nvPr/>
            </p:nvSpPr>
            <p:spPr>
              <a:xfrm>
                <a:off x="1368000" y="29272025"/>
                <a:ext cx="360000" cy="237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r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680" b="0">
                    <a:solidFill>
                      <a:srgbClr val="585858"/>
                    </a:solidFill>
                    <a:latin typeface="메모먼트꾹꾹체" panose="02000503000000000000" pitchFamily="2" charset="-127"/>
                    <a:ea typeface="메모먼트꾹꾹체" panose="02000503000000000000" pitchFamily="2" charset="-127"/>
                  </a:rPr>
                  <a:t>L5</a:t>
                </a:r>
              </a:p>
            </p:txBody>
          </p:sp>
          <p:sp>
            <p:nvSpPr>
              <p:cNvPr id="138" name="Rounded Rectangle 137"/>
              <p:cNvSpPr/>
              <p:nvPr/>
            </p:nvSpPr>
            <p:spPr>
              <a:xfrm>
                <a:off x="1800000" y="292720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39" name="Rounded Rectangle 138"/>
              <p:cNvSpPr/>
              <p:nvPr/>
            </p:nvSpPr>
            <p:spPr>
              <a:xfrm>
                <a:off x="2080800" y="292720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40" name="Rounded Rectangle 139"/>
              <p:cNvSpPr/>
              <p:nvPr/>
            </p:nvSpPr>
            <p:spPr>
              <a:xfrm>
                <a:off x="2361600" y="292720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41" name="Rounded Rectangle 140"/>
              <p:cNvSpPr/>
              <p:nvPr/>
            </p:nvSpPr>
            <p:spPr>
              <a:xfrm>
                <a:off x="2642400" y="292720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42" name="Rounded Rectangle 141"/>
              <p:cNvSpPr/>
              <p:nvPr/>
            </p:nvSpPr>
            <p:spPr>
              <a:xfrm>
                <a:off x="2923200" y="292720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43" name="Rounded Rectangle 142"/>
              <p:cNvSpPr/>
              <p:nvPr/>
            </p:nvSpPr>
            <p:spPr>
              <a:xfrm>
                <a:off x="3204000" y="292720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1368000" y="29552825"/>
                <a:ext cx="360000" cy="237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r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680" b="0">
                    <a:solidFill>
                      <a:srgbClr val="585858"/>
                    </a:solidFill>
                    <a:latin typeface="메모먼트꾹꾹체" panose="02000503000000000000" pitchFamily="2" charset="-127"/>
                    <a:ea typeface="메모먼트꾹꾹체" panose="02000503000000000000" pitchFamily="2" charset="-127"/>
                  </a:rPr>
                  <a:t>L4</a:t>
                </a:r>
              </a:p>
            </p:txBody>
          </p:sp>
          <p:sp>
            <p:nvSpPr>
              <p:cNvPr id="145" name="Rounded Rectangle 144"/>
              <p:cNvSpPr/>
              <p:nvPr/>
            </p:nvSpPr>
            <p:spPr>
              <a:xfrm>
                <a:off x="1800000" y="295528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46" name="Rounded Rectangle 145"/>
              <p:cNvSpPr/>
              <p:nvPr/>
            </p:nvSpPr>
            <p:spPr>
              <a:xfrm>
                <a:off x="2080800" y="295528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47" name="Rounded Rectangle 146"/>
              <p:cNvSpPr/>
              <p:nvPr/>
            </p:nvSpPr>
            <p:spPr>
              <a:xfrm>
                <a:off x="2361600" y="295528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48" name="Rounded Rectangle 147"/>
              <p:cNvSpPr/>
              <p:nvPr/>
            </p:nvSpPr>
            <p:spPr>
              <a:xfrm>
                <a:off x="2642400" y="295528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49" name="Rounded Rectangle 148"/>
              <p:cNvSpPr/>
              <p:nvPr/>
            </p:nvSpPr>
            <p:spPr>
              <a:xfrm>
                <a:off x="2923200" y="295528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50" name="Rounded Rectangle 149"/>
              <p:cNvSpPr/>
              <p:nvPr/>
            </p:nvSpPr>
            <p:spPr>
              <a:xfrm>
                <a:off x="3204000" y="295528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1368000" y="29833625"/>
                <a:ext cx="360000" cy="237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r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680" b="0">
                    <a:solidFill>
                      <a:srgbClr val="585858"/>
                    </a:solidFill>
                    <a:latin typeface="메모먼트꾹꾹체" panose="02000503000000000000" pitchFamily="2" charset="-127"/>
                    <a:ea typeface="메모먼트꾹꾹체" panose="02000503000000000000" pitchFamily="2" charset="-127"/>
                  </a:rPr>
                  <a:t>L3</a:t>
                </a:r>
              </a:p>
            </p:txBody>
          </p:sp>
          <p:sp>
            <p:nvSpPr>
              <p:cNvPr id="152" name="Rounded Rectangle 151"/>
              <p:cNvSpPr/>
              <p:nvPr/>
            </p:nvSpPr>
            <p:spPr>
              <a:xfrm>
                <a:off x="1800000" y="298336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53" name="Rounded Rectangle 152"/>
              <p:cNvSpPr/>
              <p:nvPr/>
            </p:nvSpPr>
            <p:spPr>
              <a:xfrm>
                <a:off x="2080800" y="298336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54" name="Rounded Rectangle 153"/>
              <p:cNvSpPr/>
              <p:nvPr/>
            </p:nvSpPr>
            <p:spPr>
              <a:xfrm>
                <a:off x="2361600" y="298336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55" name="Rounded Rectangle 154"/>
              <p:cNvSpPr/>
              <p:nvPr/>
            </p:nvSpPr>
            <p:spPr>
              <a:xfrm>
                <a:off x="2642400" y="298336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56" name="Rounded Rectangle 155"/>
              <p:cNvSpPr/>
              <p:nvPr/>
            </p:nvSpPr>
            <p:spPr>
              <a:xfrm>
                <a:off x="2923200" y="298336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57" name="Rounded Rectangle 156"/>
              <p:cNvSpPr/>
              <p:nvPr/>
            </p:nvSpPr>
            <p:spPr>
              <a:xfrm>
                <a:off x="3204000" y="298336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>
                <a:off x="1368000" y="30114425"/>
                <a:ext cx="360000" cy="237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r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680" b="0">
                    <a:solidFill>
                      <a:srgbClr val="585858"/>
                    </a:solidFill>
                    <a:latin typeface="메모먼트꾹꾹체" panose="02000503000000000000" pitchFamily="2" charset="-127"/>
                    <a:ea typeface="메모먼트꾹꾹체" panose="02000503000000000000" pitchFamily="2" charset="-127"/>
                  </a:rPr>
                  <a:t>L2</a:t>
                </a:r>
              </a:p>
            </p:txBody>
          </p:sp>
          <p:sp>
            <p:nvSpPr>
              <p:cNvPr id="159" name="Rounded Rectangle 158"/>
              <p:cNvSpPr/>
              <p:nvPr/>
            </p:nvSpPr>
            <p:spPr>
              <a:xfrm>
                <a:off x="1800000" y="301144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60" name="Rounded Rectangle 159"/>
              <p:cNvSpPr/>
              <p:nvPr/>
            </p:nvSpPr>
            <p:spPr>
              <a:xfrm>
                <a:off x="2080800" y="301144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61" name="Rounded Rectangle 160"/>
              <p:cNvSpPr/>
              <p:nvPr/>
            </p:nvSpPr>
            <p:spPr>
              <a:xfrm>
                <a:off x="2361600" y="301144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62" name="Rounded Rectangle 161"/>
              <p:cNvSpPr/>
              <p:nvPr/>
            </p:nvSpPr>
            <p:spPr>
              <a:xfrm>
                <a:off x="2642400" y="301144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0FA37D"/>
              </a:solidFill>
              <a:ln w="7620">
                <a:solidFill>
                  <a:srgbClr val="0FA37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63" name="Rounded Rectangle 162"/>
              <p:cNvSpPr/>
              <p:nvPr/>
            </p:nvSpPr>
            <p:spPr>
              <a:xfrm>
                <a:off x="2923200" y="301144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64" name="Rounded Rectangle 163"/>
              <p:cNvSpPr/>
              <p:nvPr/>
            </p:nvSpPr>
            <p:spPr>
              <a:xfrm>
                <a:off x="3204000" y="30114425"/>
                <a:ext cx="237600" cy="237600"/>
              </a:xfrm>
              <a:prstGeom prst="roundRect">
                <a:avLst>
                  <a:gd name="adj" fmla="val 20000"/>
                </a:avLst>
              </a:prstGeom>
              <a:solidFill>
                <a:srgbClr val="F2FBF7"/>
              </a:solidFill>
              <a:ln w="7620">
                <a:solidFill>
                  <a:srgbClr val="BFE8D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메모먼트꾹꾹체" panose="02000503000000000000" pitchFamily="2" charset="-127"/>
                  <a:ea typeface="메모먼트꾹꾹체" panose="02000503000000000000" pitchFamily="2" charset="-127"/>
                </a:endParaRPr>
              </a:p>
            </p:txBody>
          </p:sp>
          <p:sp>
            <p:nvSpPr>
              <p:cNvPr id="165" name="TextBox 164"/>
              <p:cNvSpPr txBox="1"/>
              <p:nvPr/>
            </p:nvSpPr>
            <p:spPr>
              <a:xfrm>
                <a:off x="1800000" y="30431225"/>
                <a:ext cx="237600" cy="198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580" b="0">
                    <a:solidFill>
                      <a:srgbClr val="585858"/>
                    </a:solidFill>
                    <a:latin typeface="메모먼트꾹꾹체" panose="02000503000000000000" pitchFamily="2" charset="-127"/>
                    <a:ea typeface="메모먼트꾹꾹체" panose="02000503000000000000" pitchFamily="2" charset="-127"/>
                  </a:rPr>
                  <a:t>Z1</a:t>
                </a:r>
              </a:p>
            </p:txBody>
          </p:sp>
          <p:sp>
            <p:nvSpPr>
              <p:cNvPr id="166" name="TextBox 165"/>
              <p:cNvSpPr txBox="1"/>
              <p:nvPr/>
            </p:nvSpPr>
            <p:spPr>
              <a:xfrm>
                <a:off x="2080800" y="30431225"/>
                <a:ext cx="237600" cy="198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580" b="0">
                    <a:solidFill>
                      <a:srgbClr val="585858"/>
                    </a:solidFill>
                    <a:latin typeface="메모먼트꾹꾹체" panose="02000503000000000000" pitchFamily="2" charset="-127"/>
                    <a:ea typeface="메모먼트꾹꾹체" panose="02000503000000000000" pitchFamily="2" charset="-127"/>
                  </a:rPr>
                  <a:t>Z2</a:t>
                </a:r>
              </a:p>
            </p:txBody>
          </p:sp>
          <p:sp>
            <p:nvSpPr>
              <p:cNvPr id="167" name="TextBox 166"/>
              <p:cNvSpPr txBox="1"/>
              <p:nvPr/>
            </p:nvSpPr>
            <p:spPr>
              <a:xfrm>
                <a:off x="2361600" y="30431225"/>
                <a:ext cx="237600" cy="198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580" b="0">
                    <a:solidFill>
                      <a:srgbClr val="585858"/>
                    </a:solidFill>
                    <a:latin typeface="메모먼트꾹꾹체" panose="02000503000000000000" pitchFamily="2" charset="-127"/>
                    <a:ea typeface="메모먼트꾹꾹체" panose="02000503000000000000" pitchFamily="2" charset="-127"/>
                  </a:rPr>
                  <a:t>Z3</a:t>
                </a:r>
              </a:p>
            </p:txBody>
          </p:sp>
          <p:sp>
            <p:nvSpPr>
              <p:cNvPr id="168" name="TextBox 167"/>
              <p:cNvSpPr txBox="1"/>
              <p:nvPr/>
            </p:nvSpPr>
            <p:spPr>
              <a:xfrm>
                <a:off x="2642400" y="30431225"/>
                <a:ext cx="237600" cy="198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580" b="0">
                    <a:solidFill>
                      <a:srgbClr val="585858"/>
                    </a:solidFill>
                    <a:latin typeface="메모먼트꾹꾹체" panose="02000503000000000000" pitchFamily="2" charset="-127"/>
                    <a:ea typeface="메모먼트꾹꾹체" panose="02000503000000000000" pitchFamily="2" charset="-127"/>
                  </a:rPr>
                  <a:t>Z4</a:t>
                </a:r>
              </a:p>
            </p:txBody>
          </p:sp>
          <p:sp>
            <p:nvSpPr>
              <p:cNvPr id="169" name="TextBox 168"/>
              <p:cNvSpPr txBox="1"/>
              <p:nvPr/>
            </p:nvSpPr>
            <p:spPr>
              <a:xfrm>
                <a:off x="2923200" y="30431225"/>
                <a:ext cx="237600" cy="198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580" b="0">
                    <a:solidFill>
                      <a:srgbClr val="585858"/>
                    </a:solidFill>
                    <a:latin typeface="메모먼트꾹꾹체" panose="02000503000000000000" pitchFamily="2" charset="-127"/>
                    <a:ea typeface="메모먼트꾹꾹체" panose="02000503000000000000" pitchFamily="2" charset="-127"/>
                  </a:rPr>
                  <a:t>Z5</a:t>
                </a:r>
              </a:p>
            </p:txBody>
          </p:sp>
          <p:sp>
            <p:nvSpPr>
              <p:cNvPr id="170" name="TextBox 169"/>
              <p:cNvSpPr txBox="1"/>
              <p:nvPr/>
            </p:nvSpPr>
            <p:spPr>
              <a:xfrm>
                <a:off x="3204000" y="30431225"/>
                <a:ext cx="237600" cy="198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580" b="0">
                    <a:solidFill>
                      <a:srgbClr val="585858"/>
                    </a:solidFill>
                    <a:latin typeface="메모먼트꾹꾹체" panose="02000503000000000000" pitchFamily="2" charset="-127"/>
                    <a:ea typeface="메모먼트꾹꾹체" panose="02000503000000000000" pitchFamily="2" charset="-127"/>
                  </a:rPr>
                  <a:t>Z6</a:t>
                </a:r>
              </a:p>
            </p:txBody>
          </p:sp>
        </p:grpSp>
        <p:sp>
          <p:nvSpPr>
            <p:cNvPr id="136" name="TextBox 135"/>
            <p:cNvSpPr txBox="1"/>
            <p:nvPr/>
          </p:nvSpPr>
          <p:spPr>
            <a:xfrm>
              <a:off x="1124464" y="35333065"/>
              <a:ext cx="15718720" cy="864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손가락</a:t>
              </a:r>
              <a:r>
                <a:rPr sz="28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8개 = ROW, </a:t>
              </a:r>
              <a:r>
                <a:rPr sz="28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키구역</a:t>
              </a:r>
              <a:r>
                <a:rPr sz="28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= COL. </a:t>
              </a:r>
              <a:r>
                <a:rPr sz="28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손끝</a:t>
              </a:r>
              <a:r>
                <a:rPr sz="28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구리패드가</a:t>
              </a:r>
              <a:r>
                <a:rPr sz="28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키 </a:t>
              </a:r>
              <a:r>
                <a:rPr sz="28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구리패드에</a:t>
              </a:r>
              <a:r>
                <a:rPr sz="28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닿으면</a:t>
              </a:r>
              <a:r>
                <a:rPr sz="28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그 </a:t>
              </a:r>
              <a:r>
                <a:rPr sz="28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교차점이</a:t>
              </a:r>
              <a:r>
                <a:rPr sz="28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ON </a:t>
              </a:r>
              <a:endParaRPr lang="en-US" sz="2800" b="1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→ ‘몇 번 </a:t>
              </a:r>
              <a:r>
                <a:rPr sz="28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손가락</a:t>
              </a:r>
              <a:r>
                <a:rPr sz="28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× </a:t>
              </a:r>
              <a:r>
                <a:rPr sz="28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어느</a:t>
              </a:r>
              <a:r>
                <a:rPr sz="28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키구역’을</a:t>
              </a:r>
              <a:r>
                <a:rPr sz="28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32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동시에</a:t>
              </a:r>
              <a:r>
                <a:rPr sz="28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1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읽어요</a:t>
              </a:r>
              <a:r>
                <a:rPr sz="2800" b="1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.</a:t>
              </a:r>
            </a:p>
          </p:txBody>
        </p: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D566D249-8524-500F-4FAB-339599985143}"/>
              </a:ext>
            </a:extLst>
          </p:cNvPr>
          <p:cNvGrpSpPr/>
          <p:nvPr/>
        </p:nvGrpSpPr>
        <p:grpSpPr>
          <a:xfrm>
            <a:off x="12447533" y="29478389"/>
            <a:ext cx="17827680" cy="6119763"/>
            <a:chOff x="15426000" y="28260000"/>
            <a:chExt cx="13770000" cy="3456000"/>
          </a:xfrm>
        </p:grpSpPr>
        <p:sp>
          <p:nvSpPr>
            <p:cNvPr id="134" name="Rounded Rectangle 133"/>
            <p:cNvSpPr/>
            <p:nvPr/>
          </p:nvSpPr>
          <p:spPr>
            <a:xfrm>
              <a:off x="15426000" y="28260000"/>
              <a:ext cx="13770000" cy="3456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143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15714000" y="28476000"/>
              <a:ext cx="13194000" cy="36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48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신호</a:t>
              </a:r>
              <a:r>
                <a:rPr sz="4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48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합치기</a:t>
              </a:r>
              <a:r>
                <a:rPr sz="4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— Web Serial API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5714000" y="28908000"/>
              <a:ext cx="13194000" cy="1840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브라우저가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USB로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연결된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아두이노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신호를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바로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받아요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.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키보드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keydown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(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어떤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키) +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아두이노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시리얼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(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어떤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손가락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)을 0.6초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이내로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맞춰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하나로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합쳐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400" b="0" dirty="0" err="1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판정해요</a:t>
              </a:r>
              <a:r>
                <a:rPr sz="2400" b="0" dirty="0">
                  <a:solidFill>
                    <a:srgbClr val="222222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.</a:t>
              </a:r>
            </a:p>
          </p:txBody>
        </p:sp>
        <p:sp>
          <p:nvSpPr>
            <p:cNvPr id="173" name="Rounded Rectangle 172"/>
            <p:cNvSpPr/>
            <p:nvPr/>
          </p:nvSpPr>
          <p:spPr>
            <a:xfrm>
              <a:off x="15714000" y="29308025"/>
              <a:ext cx="13194000" cy="396000"/>
            </a:xfrm>
            <a:prstGeom prst="roundRect">
              <a:avLst>
                <a:gd name="adj" fmla="val 50000"/>
              </a:avLst>
            </a:prstGeom>
            <a:solidFill>
              <a:srgbClr val="D3F3E8"/>
            </a:solidFill>
            <a:ln w="11430">
              <a:solidFill>
                <a:srgbClr val="0FA37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15786000" y="29308025"/>
              <a:ext cx="13050000" cy="396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lang="en-US"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 </a:t>
              </a:r>
              <a:r>
                <a:rPr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L2,Z4  →  </a:t>
              </a:r>
              <a:r>
                <a:rPr sz="28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왼손</a:t>
              </a:r>
              <a:r>
                <a:rPr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</a:t>
              </a:r>
              <a:r>
                <a:rPr sz="2800" b="1" dirty="0" err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검지</a:t>
              </a:r>
              <a:r>
                <a:rPr sz="2800" b="1" dirty="0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 × 4구역 ON</a:t>
              </a:r>
            </a:p>
          </p:txBody>
        </p:sp>
        <p:sp>
          <p:nvSpPr>
            <p:cNvPr id="175" name="Rounded Rectangle 174"/>
            <p:cNvSpPr/>
            <p:nvPr/>
          </p:nvSpPr>
          <p:spPr>
            <a:xfrm>
              <a:off x="15714000" y="29812025"/>
              <a:ext cx="13194000" cy="396000"/>
            </a:xfrm>
            <a:prstGeom prst="roundRect">
              <a:avLst>
                <a:gd name="adj" fmla="val 50000"/>
              </a:avLst>
            </a:prstGeom>
            <a:solidFill>
              <a:srgbClr val="F2FBF7"/>
            </a:solidFill>
            <a:ln w="11430">
              <a:solidFill>
                <a:srgbClr val="BFE8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메모먼트꾹꾹체" panose="02000503000000000000" pitchFamily="2" charset="-127"/>
                <a:ea typeface="메모먼트꾹꾹체" panose="02000503000000000000" pitchFamily="2" charset="-127"/>
              </a:endParaRP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15786000" y="29812025"/>
              <a:ext cx="13050000" cy="396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2800" b="1">
                  <a:solidFill>
                    <a:srgbClr val="000000"/>
                  </a:solidFill>
                  <a:latin typeface="메모먼트꾹꾹체" panose="02000503000000000000" pitchFamily="2" charset="-127"/>
                  <a:ea typeface="메모먼트꾹꾹체" panose="02000503000000000000" pitchFamily="2" charset="-127"/>
                </a:rPr>
                <a:t>맞으면 초록 LED · 틀리면 빨강 LED + 부저</a:t>
              </a:r>
            </a:p>
          </p:txBody>
        </p:sp>
      </p:grp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B15232FF-D5C4-B280-A881-D010EA9591EB}"/>
              </a:ext>
            </a:extLst>
          </p:cNvPr>
          <p:cNvSpPr/>
          <p:nvPr/>
        </p:nvSpPr>
        <p:spPr>
          <a:xfrm>
            <a:off x="19193040" y="18874154"/>
            <a:ext cx="9858960" cy="5245609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BFE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b="1" dirty="0">
                <a:solidFill>
                  <a:schemeClr val="tx1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손가락을 시각적으로 표현해서 교정으로 유도합니다</a:t>
            </a:r>
            <a:r>
              <a:rPr lang="en-US" altLang="ko-KR" sz="5400" b="1" dirty="0">
                <a:solidFill>
                  <a:schemeClr val="tx1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.</a:t>
            </a:r>
            <a:endParaRPr lang="ko-KR" altLang="en-US" sz="5400" b="1" dirty="0">
              <a:solidFill>
                <a:schemeClr val="tx1"/>
              </a:solidFill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6000" cy="4280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9" name="Oval 8"/>
          <p:cNvSpPr/>
          <p:nvPr/>
        </p:nvSpPr>
        <p:spPr>
          <a:xfrm>
            <a:off x="21240000" y="24840000"/>
            <a:ext cx="7920000" cy="7920000"/>
          </a:xfrm>
          <a:prstGeom prst="ellipse">
            <a:avLst/>
          </a:prstGeom>
          <a:solidFill>
            <a:srgbClr val="D3F3E8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0000" y="1080000"/>
            <a:ext cx="28116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800" b="1" dirty="0" err="1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손가락</a:t>
            </a:r>
            <a:r>
              <a:rPr sz="2800" b="1" dirty="0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2800" b="1" dirty="0" err="1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이끔이</a:t>
            </a:r>
            <a:r>
              <a:rPr sz="2800" b="1" dirty="0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— </a:t>
            </a:r>
            <a:r>
              <a:rPr sz="2800" b="1" dirty="0" err="1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발표</a:t>
            </a:r>
            <a:r>
              <a:rPr sz="2800" b="1" dirty="0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2800" b="1" dirty="0" err="1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포스터</a:t>
            </a:r>
            <a:r>
              <a:rPr sz="2800" b="1" dirty="0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(2/2)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1585680"/>
            <a:ext cx="1656000" cy="93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600" b="1" dirty="0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4520" y="1674000"/>
            <a:ext cx="20160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8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새로운</a:t>
            </a:r>
            <a:r>
              <a:rPr sz="48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48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앱의</a:t>
            </a:r>
            <a:r>
              <a:rPr sz="48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48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지표</a:t>
            </a:r>
            <a:endParaRPr sz="4800" b="1" dirty="0">
              <a:solidFill>
                <a:srgbClr val="000000"/>
              </a:solidFill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148000" y="1800000"/>
            <a:ext cx="6048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WHAT'S NEW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0000" y="2700000"/>
            <a:ext cx="13734000" cy="115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40000" y="2988000"/>
            <a:ext cx="13014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올바른 운지율(%)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0000" y="3708000"/>
            <a:ext cx="13014000" cy="864000"/>
          </a:xfrm>
          <a:prstGeom prst="roundRect">
            <a:avLst>
              <a:gd name="adj" fmla="val 20000"/>
            </a:avLst>
          </a:prstGeom>
          <a:solidFill>
            <a:srgbClr val="D3F3E8"/>
          </a:solidFill>
          <a:ln w="10160">
            <a:solidFill>
              <a:srgbClr val="0FA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56000" y="3708000"/>
            <a:ext cx="12582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올바른 운지율 = 올바른 손가락으로 친 횟수 ÷ 전체 타건 횟수 × 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0000" y="10476000"/>
            <a:ext cx="13014000" cy="21600"/>
          </a:xfrm>
          <a:prstGeom prst="rect">
            <a:avLst/>
          </a:prstGeom>
          <a:solidFill>
            <a:srgbClr val="7FD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440000" y="7641000"/>
            <a:ext cx="2314800" cy="2835000"/>
          </a:xfrm>
          <a:prstGeom prst="roundRect">
            <a:avLst>
              <a:gd name="adj" fmla="val 20000"/>
            </a:avLst>
          </a:prstGeom>
          <a:solidFill>
            <a:srgbClr val="0FA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40000" y="7173000"/>
            <a:ext cx="2314800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8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42%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620000"/>
            <a:ext cx="23148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b="0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1회차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6763500"/>
            <a:ext cx="2314800" cy="3712500"/>
          </a:xfrm>
          <a:prstGeom prst="roundRect">
            <a:avLst>
              <a:gd name="adj" fmla="val 20000"/>
            </a:avLst>
          </a:prstGeom>
          <a:solidFill>
            <a:srgbClr val="0FA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14800" y="6295500"/>
            <a:ext cx="2314800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8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55%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10620000"/>
            <a:ext cx="23148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b="0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2회차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89600" y="6223500"/>
            <a:ext cx="2314800" cy="4252500"/>
          </a:xfrm>
          <a:prstGeom prst="roundRect">
            <a:avLst>
              <a:gd name="adj" fmla="val 20000"/>
            </a:avLst>
          </a:prstGeom>
          <a:solidFill>
            <a:srgbClr val="0FA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89600" y="5755500"/>
            <a:ext cx="2314800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8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63%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9600" y="10620000"/>
            <a:ext cx="23148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b="0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3회차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400" y="5751000"/>
            <a:ext cx="2314800" cy="4725000"/>
          </a:xfrm>
          <a:prstGeom prst="roundRect">
            <a:avLst>
              <a:gd name="adj" fmla="val 20000"/>
            </a:avLst>
          </a:prstGeom>
          <a:solidFill>
            <a:srgbClr val="0FA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464400" y="5283000"/>
            <a:ext cx="2314800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8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70%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400" y="10620000"/>
            <a:ext cx="23148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b="0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4회차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39200" y="5346000"/>
            <a:ext cx="2314800" cy="5130000"/>
          </a:xfrm>
          <a:prstGeom prst="roundRect">
            <a:avLst>
              <a:gd name="adj" fmla="val 20000"/>
            </a:avLst>
          </a:prstGeom>
          <a:solidFill>
            <a:srgbClr val="0FA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139200" y="4878000"/>
            <a:ext cx="2314800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8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76%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39200" y="10620000"/>
            <a:ext cx="23148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b="0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5회차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0000" y="11196000"/>
            <a:ext cx="1301400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800" b="0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예시 데이터 · 연습을 반복할수록 운지율이 올라가는 것을 기록·그래프로 확인해요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462000" y="2700000"/>
            <a:ext cx="13734000" cy="115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822000" y="2988000"/>
            <a:ext cx="13014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웹앱이 실시간으로 보여주는 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822000" y="3852000"/>
            <a:ext cx="13014000" cy="9864000"/>
          </a:xfrm>
          <a:prstGeom prst="roundRect">
            <a:avLst>
              <a:gd name="adj" fmla="val 8000"/>
            </a:avLst>
          </a:prstGeom>
          <a:solidFill>
            <a:srgbClr val="0E3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182000" y="4284000"/>
            <a:ext cx="12294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800" b="0">
                <a:solidFill>
                  <a:srgbClr val="EFFCF9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the quick brown fo</a:t>
            </a:r>
            <a:r>
              <a:rPr sz="2800" b="1">
                <a:solidFill>
                  <a:srgbClr val="3A2A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x</a:t>
            </a:r>
            <a:r>
              <a:rPr sz="2800" b="0">
                <a:solidFill>
                  <a:srgbClr val="EFFCF9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jumps over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966000" y="5076000"/>
            <a:ext cx="4050000" cy="223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5937200" y="5436000"/>
            <a:ext cx="4050000" cy="4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400" b="0">
                <a:solidFill>
                  <a:srgbClr val="0E3A37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타수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966000" y="6012000"/>
            <a:ext cx="4050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48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187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304000" y="5035500"/>
            <a:ext cx="4050000" cy="223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0156520" y="5436000"/>
            <a:ext cx="4050000" cy="4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400" b="0">
                <a:solidFill>
                  <a:srgbClr val="0E3A37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정확도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56520" y="6012000"/>
            <a:ext cx="4050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48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98%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678000" y="5107500"/>
            <a:ext cx="4050000" cy="223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4566520" y="5463000"/>
            <a:ext cx="4050000" cy="4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400" b="0" dirty="0" err="1">
                <a:solidFill>
                  <a:srgbClr val="0E3A37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올바른</a:t>
            </a:r>
            <a:r>
              <a:rPr sz="2400" b="0" dirty="0">
                <a:solidFill>
                  <a:srgbClr val="0E3A37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2400" b="0" dirty="0" err="1">
                <a:solidFill>
                  <a:srgbClr val="0E3A37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운지율</a:t>
            </a:r>
            <a:endParaRPr sz="2400" b="0" dirty="0">
              <a:solidFill>
                <a:srgbClr val="0E3A37"/>
              </a:solidFill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4566520" y="6043560"/>
            <a:ext cx="4050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48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76%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182000" y="7812000"/>
            <a:ext cx="1229400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800" b="0">
                <a:solidFill>
                  <a:srgbClr val="D9EFEA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타수·정확도는 물론, 아두이노가 없는 소프트웨어는
절대 알 수 없는 ‘올바른 운지율’까지 화면에서
바로 확인할 수 있어요.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182000" y="10080000"/>
            <a:ext cx="12294000" cy="32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손가락 이끔이는 지금까지 없던
‘손가락 인식형’ 타자 앱이에요.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8560" y="14918400"/>
            <a:ext cx="1656000" cy="93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600" b="1" dirty="0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08000" y="15030000"/>
            <a:ext cx="20160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8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만드는</a:t>
            </a:r>
            <a:r>
              <a:rPr sz="48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48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계획</a:t>
            </a:r>
            <a:endParaRPr sz="4800" b="1" dirty="0">
              <a:solidFill>
                <a:srgbClr val="000000"/>
              </a:solidFill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3148000" y="15300000"/>
            <a:ext cx="6048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TIMELINE · BOM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80000" y="16200000"/>
            <a:ext cx="6705000" cy="2664000"/>
          </a:xfrm>
          <a:prstGeom prst="roundRect">
            <a:avLst>
              <a:gd name="adj" fmla="val 10000"/>
            </a:avLst>
          </a:prstGeom>
          <a:solidFill>
            <a:srgbClr val="F2FBF7"/>
          </a:solidFill>
          <a:ln w="1016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440000" y="16488000"/>
            <a:ext cx="5985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en-US" sz="40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7</a:t>
            </a:r>
            <a:r>
              <a:rPr sz="40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40000" y="17136000"/>
            <a:ext cx="5985000" cy="12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주제 탐색·선정, 문제 정의, 자료조사, 컨셉 확정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440000" y="18288000"/>
            <a:ext cx="1296000" cy="396000"/>
          </a:xfrm>
          <a:prstGeom prst="roundRect">
            <a:avLst>
              <a:gd name="adj" fmla="val 50000"/>
            </a:avLst>
          </a:prstGeom>
          <a:solidFill>
            <a:srgbClr val="DE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512000" y="18288000"/>
            <a:ext cx="11520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1F8A4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완료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17000" y="16200000"/>
            <a:ext cx="6705000" cy="2664000"/>
          </a:xfrm>
          <a:prstGeom prst="roundRect">
            <a:avLst>
              <a:gd name="adj" fmla="val 10000"/>
            </a:avLst>
          </a:prstGeom>
          <a:solidFill>
            <a:srgbClr val="F2FBF7"/>
          </a:solidFill>
          <a:ln w="1016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577000" y="16488000"/>
            <a:ext cx="5985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en-US" sz="40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8</a:t>
            </a:r>
            <a:r>
              <a:rPr sz="40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77000" y="17136000"/>
            <a:ext cx="5985000" cy="12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3부분 시스템 설계, 표준 운지표 설계, 부품 선정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77000" y="18288000"/>
            <a:ext cx="1296000" cy="396000"/>
          </a:xfrm>
          <a:prstGeom prst="roundRect">
            <a:avLst>
              <a:gd name="adj" fmla="val 50000"/>
            </a:avLst>
          </a:prstGeom>
          <a:solidFill>
            <a:srgbClr val="DE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649000" y="18288000"/>
            <a:ext cx="11520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1F8A4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완료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5354000" y="16200000"/>
            <a:ext cx="6705000" cy="2664000"/>
          </a:xfrm>
          <a:prstGeom prst="roundRect">
            <a:avLst>
              <a:gd name="adj" fmla="val 10000"/>
            </a:avLst>
          </a:prstGeom>
          <a:solidFill>
            <a:srgbClr val="F2FBF7"/>
          </a:solidFill>
          <a:ln w="1016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5714000" y="16488000"/>
            <a:ext cx="5985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en-US" sz="40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9</a:t>
            </a:r>
            <a:r>
              <a:rPr lang="ko-KR" altLang="en-US" sz="40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월</a:t>
            </a:r>
            <a:endParaRPr sz="4000" b="1" dirty="0">
              <a:solidFill>
                <a:srgbClr val="C9601C"/>
              </a:solidFill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5714000" y="17136000"/>
            <a:ext cx="5985000" cy="12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HW 프로토타입, 아두이노 스캔 코드, 웹앱 MVP 착수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5714000" y="18288000"/>
            <a:ext cx="1296000" cy="396000"/>
          </a:xfrm>
          <a:prstGeom prst="roundRect">
            <a:avLst>
              <a:gd name="adj" fmla="val 50000"/>
            </a:avLst>
          </a:prstGeom>
          <a:solidFill>
            <a:srgbClr val="DE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5786000" y="18288000"/>
            <a:ext cx="11520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1F8A4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완료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2491000" y="16200000"/>
            <a:ext cx="6705000" cy="2664000"/>
          </a:xfrm>
          <a:prstGeom prst="roundRect">
            <a:avLst>
              <a:gd name="adj" fmla="val 10000"/>
            </a:avLst>
          </a:prstGeom>
          <a:solidFill>
            <a:srgbClr val="F2FBF7"/>
          </a:solidFill>
          <a:ln w="1016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2851000" y="16488000"/>
            <a:ext cx="5985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en-US" sz="40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10</a:t>
            </a:r>
            <a:r>
              <a:rPr sz="40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51000" y="17136000"/>
            <a:ext cx="5985000" cy="12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웹앱 완성(연동·운지율·피드백), 사용자 테스트, 접수 마감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2851000" y="18288000"/>
            <a:ext cx="1296000" cy="396000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2923000" y="18288000"/>
            <a:ext cx="115200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진행 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0000" y="19512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부품 목록 (BOM)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80000" y="19980000"/>
            <a:ext cx="2203200" cy="46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152000" y="19980000"/>
            <a:ext cx="20592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아두이노 Uno(호환)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499200" y="19980000"/>
            <a:ext cx="1425600" cy="46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571200" y="19980000"/>
            <a:ext cx="12816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구리 테이프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140800" y="19980000"/>
            <a:ext cx="1036800" cy="46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212800" y="19980000"/>
            <a:ext cx="8928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점퍼선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93600" y="19980000"/>
            <a:ext cx="1425600" cy="46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465600" y="19980000"/>
            <a:ext cx="12816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피에조 부저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035200" y="19980000"/>
            <a:ext cx="2332800" cy="46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107200" y="19980000"/>
            <a:ext cx="21888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LED(빨강·초록)+저항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584000" y="19980000"/>
            <a:ext cx="1296000" cy="46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0656000" y="19980000"/>
            <a:ext cx="11520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브레드보드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2096000" y="19980000"/>
            <a:ext cx="1944000" cy="46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2168000" y="19980000"/>
            <a:ext cx="18000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면장갑(프로토타입)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4256000" y="19980000"/>
            <a:ext cx="2332800" cy="46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4328000" y="19980000"/>
            <a:ext cx="21888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(선택) 74HC4051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8520" y="20890800"/>
            <a:ext cx="1656000" cy="93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600" b="1" dirty="0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06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1520" y="20988000"/>
            <a:ext cx="20160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8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테스트와</a:t>
            </a:r>
            <a:r>
              <a:rPr sz="48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48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기대</a:t>
            </a:r>
            <a:r>
              <a:rPr sz="48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48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효과</a:t>
            </a:r>
            <a:endParaRPr sz="4800" b="1" dirty="0">
              <a:solidFill>
                <a:srgbClr val="000000"/>
              </a:solidFill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23148000" y="21240000"/>
            <a:ext cx="6048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TEST · IMPACT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80000" y="22140000"/>
            <a:ext cx="13734000" cy="9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584000" y="22572000"/>
            <a:ext cx="12726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4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테스트 방법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84000" y="23364000"/>
            <a:ext cx="12726000" cy="2453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3200" b="0" dirty="0" err="1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같은</a:t>
            </a:r>
            <a:r>
              <a:rPr sz="32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반 </a:t>
            </a:r>
            <a:r>
              <a:rPr sz="3200" b="0" dirty="0" err="1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친구·가족</a:t>
            </a:r>
            <a:r>
              <a:rPr sz="32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등 </a:t>
            </a:r>
            <a:r>
              <a:rPr sz="3200" b="0" dirty="0" err="1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타자를</a:t>
            </a:r>
            <a:r>
              <a:rPr sz="32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3200" b="0" dirty="0" err="1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배우는</a:t>
            </a:r>
            <a:r>
              <a:rPr sz="32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3200" b="0" dirty="0" err="1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초등학생</a:t>
            </a:r>
            <a:r>
              <a:rPr sz="32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3~5명이 </a:t>
            </a:r>
            <a:r>
              <a:rPr sz="3200" b="0" dirty="0" err="1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같은</a:t>
            </a:r>
            <a:r>
              <a:rPr sz="32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3200" b="0" dirty="0" err="1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문장을</a:t>
            </a:r>
            <a:r>
              <a:rPr sz="32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① </a:t>
            </a:r>
            <a:r>
              <a:rPr sz="3200" b="0" dirty="0" err="1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장치</a:t>
            </a:r>
            <a:r>
              <a:rPr sz="32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3200" b="0" dirty="0" err="1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없이</a:t>
            </a:r>
            <a:r>
              <a:rPr sz="32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→ ② </a:t>
            </a:r>
            <a:r>
              <a:rPr sz="3200" b="0" dirty="0" err="1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장치+웹앱으로</a:t>
            </a:r>
            <a:r>
              <a:rPr sz="32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3200" b="0" dirty="0" err="1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며칠간</a:t>
            </a:r>
            <a:r>
              <a:rPr sz="32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3200" b="0" dirty="0" err="1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연습해서</a:t>
            </a:r>
            <a:r>
              <a:rPr sz="32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3200" b="0" dirty="0" err="1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비교해요</a:t>
            </a:r>
            <a:r>
              <a:rPr sz="3200" b="0" dirty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804240" y="27113214"/>
            <a:ext cx="921600" cy="468000"/>
          </a:xfrm>
          <a:prstGeom prst="roundRect">
            <a:avLst>
              <a:gd name="adj" fmla="val 50000"/>
            </a:avLst>
          </a:prstGeom>
          <a:solidFill>
            <a:srgbClr val="F2FBF7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902400" y="27108000"/>
            <a:ext cx="7776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타수</a:t>
            </a:r>
            <a:endParaRPr sz="2400" b="1" dirty="0">
              <a:solidFill>
                <a:srgbClr val="000000"/>
              </a:solidFill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5054400" y="27108000"/>
            <a:ext cx="1468800" cy="468000"/>
          </a:xfrm>
          <a:prstGeom prst="roundRect">
            <a:avLst>
              <a:gd name="adj" fmla="val 50000"/>
            </a:avLst>
          </a:prstGeom>
          <a:solidFill>
            <a:srgbClr val="F2FBF7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140800" y="27072000"/>
            <a:ext cx="13248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정확도</a:t>
            </a:r>
            <a:r>
              <a:rPr sz="24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(%)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552080" y="27162000"/>
            <a:ext cx="2016000" cy="468000"/>
          </a:xfrm>
          <a:prstGeom prst="roundRect">
            <a:avLst>
              <a:gd name="adj" fmla="val 50000"/>
            </a:avLst>
          </a:prstGeom>
          <a:solidFill>
            <a:srgbClr val="F2FBF7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440000" y="27108000"/>
            <a:ext cx="23112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올바른</a:t>
            </a:r>
            <a:r>
              <a:rPr sz="24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운지율</a:t>
            </a:r>
            <a:r>
              <a:rPr sz="2400" b="1" dirty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(%)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584000" y="24905367"/>
            <a:ext cx="12726000" cy="2366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800" b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예상 결과: 장치+웹앱으로 연습할수록 운지율이 점점 오르고, 며칠 뒤엔 장치 없이도 손가락 사용과 타자 속도가 좋아질 거예요.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5462000" y="22140000"/>
            <a:ext cx="13734000" cy="9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BFE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5966000" y="22572000"/>
            <a:ext cx="12726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4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기대 효과 &amp; 앞으로 할 일</a:t>
            </a:r>
          </a:p>
        </p:txBody>
      </p:sp>
      <p:sp>
        <p:nvSpPr>
          <p:cNvPr id="108" name="Oval 107"/>
          <p:cNvSpPr/>
          <p:nvPr/>
        </p:nvSpPr>
        <p:spPr>
          <a:xfrm>
            <a:off x="15948000" y="23634000"/>
            <a:ext cx="180000" cy="180000"/>
          </a:xfrm>
          <a:prstGeom prst="ellipse">
            <a:avLst/>
          </a:prstGeom>
          <a:solidFill>
            <a:srgbClr val="0FA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6362000" y="23508000"/>
            <a:ext cx="12330000" cy="2453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올바른 타자 습관 형성 → 타자 속도 향상, 손가락 피로 감소</a:t>
            </a:r>
          </a:p>
        </p:txBody>
      </p:sp>
      <p:sp>
        <p:nvSpPr>
          <p:cNvPr id="110" name="Oval 109"/>
          <p:cNvSpPr/>
          <p:nvPr/>
        </p:nvSpPr>
        <p:spPr>
          <a:xfrm>
            <a:off x="15948000" y="24239367"/>
            <a:ext cx="180000" cy="180000"/>
          </a:xfrm>
          <a:prstGeom prst="ellipse">
            <a:avLst/>
          </a:prstGeom>
          <a:solidFill>
            <a:srgbClr val="0FA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6362000" y="24113367"/>
            <a:ext cx="12330000" cy="2453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운지율 그래프로 성장 과정을 눈으로 보며 재미있게 동기부여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966000" y="25006735"/>
            <a:ext cx="12726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585858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앞으로 할 일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5966000" y="25510735"/>
            <a:ext cx="12028708" cy="697265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6362000" y="25578000"/>
            <a:ext cx="11786032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손톱</a:t>
            </a:r>
            <a:r>
              <a:rPr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스티커형으로</a:t>
            </a:r>
            <a:r>
              <a:rPr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소형화</a:t>
            </a:r>
            <a:r>
              <a:rPr lang="en-US"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-&gt; </a:t>
            </a:r>
            <a:r>
              <a:rPr lang="ko-KR" altLang="en-US"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블루투스로 무선화 </a:t>
            </a:r>
            <a:r>
              <a:rPr lang="en-US" altLang="ko-KR"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-&gt; </a:t>
            </a:r>
            <a:r>
              <a:rPr lang="ko-KR" altLang="en-US"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개별 키 단위로 정밀화 </a:t>
            </a:r>
            <a:r>
              <a:rPr lang="en-US" altLang="ko-KR"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-&gt; </a:t>
            </a:r>
            <a:r>
              <a:rPr lang="ko-KR" altLang="en-US"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친구랑</a:t>
            </a:r>
            <a:r>
              <a:rPr lang="ko-KR" altLang="en-US"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lang="ko-KR" altLang="en-US"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운지율</a:t>
            </a:r>
            <a:r>
              <a:rPr lang="ko-KR" altLang="en-US"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랭킹 게임화</a:t>
            </a:r>
            <a:endParaRPr sz="2400" b="1" dirty="0">
              <a:solidFill>
                <a:srgbClr val="C9601C"/>
              </a:solidFill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8208800" y="26849593"/>
            <a:ext cx="20952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블루투스로</a:t>
            </a:r>
            <a:r>
              <a:rPr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무선화</a:t>
            </a:r>
            <a:endParaRPr sz="2400" b="1" dirty="0">
              <a:solidFill>
                <a:srgbClr val="C9601C"/>
              </a:solidFill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0703600" y="26811839"/>
            <a:ext cx="2505600" cy="4452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개별</a:t>
            </a:r>
            <a:r>
              <a:rPr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키 </a:t>
            </a:r>
            <a:r>
              <a:rPr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단위로</a:t>
            </a:r>
            <a:r>
              <a:rPr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정밀화</a:t>
            </a:r>
            <a:endParaRPr sz="2400" b="1" dirty="0">
              <a:solidFill>
                <a:srgbClr val="C9601C"/>
              </a:solidFill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3326800" y="26928000"/>
            <a:ext cx="311184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친구랑</a:t>
            </a:r>
            <a:r>
              <a:rPr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운지율</a:t>
            </a:r>
            <a:r>
              <a:rPr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랭킹</a:t>
            </a:r>
            <a:r>
              <a:rPr sz="2400" b="1" dirty="0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 </a:t>
            </a:r>
            <a:r>
              <a:rPr sz="2400" b="1" dirty="0" err="1">
                <a:solidFill>
                  <a:srgbClr val="C9601C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게임화</a:t>
            </a:r>
            <a:endParaRPr sz="2400" b="1" dirty="0">
              <a:solidFill>
                <a:srgbClr val="C9601C"/>
              </a:solidFill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1080000" y="32220000"/>
            <a:ext cx="28116000" cy="17280"/>
          </a:xfrm>
          <a:prstGeom prst="rect">
            <a:avLst/>
          </a:prstGeom>
          <a:solidFill>
            <a:srgbClr val="7FD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메모먼트꾹꾹체" panose="02000503000000000000" pitchFamily="2" charset="-127"/>
              <a:ea typeface="메모먼트꾹꾹체" panose="02000503000000000000" pitchFamily="2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080000" y="32796000"/>
            <a:ext cx="72000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800" b="1">
                <a:solidFill>
                  <a:srgbClr val="000000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출처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80000" y="33804000"/>
            <a:ext cx="72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1.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800000" y="33804000"/>
            <a:ext cx="1287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매거진한경 (2025.04), “독수리 타자로 코딩하는 10대들”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80000" y="34293552"/>
            <a:ext cx="72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2.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800000" y="34293552"/>
            <a:ext cx="1287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위키백과, “Touch Typing”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80000" y="34783104"/>
            <a:ext cx="72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3.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00000" y="34783104"/>
            <a:ext cx="1287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Mass General Brigham, “Avoiding a Repetitive Strain Injury”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80000" y="35272656"/>
            <a:ext cx="72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4.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00000" y="35272656"/>
            <a:ext cx="1287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위키백과, “Muscle Memory”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5606000" y="33804000"/>
            <a:ext cx="72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5.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326000" y="33804000"/>
            <a:ext cx="1287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Ratatype, “At What Age Should You Teach a Child to Type”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5606000" y="34293552"/>
            <a:ext cx="72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6.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6326000" y="34293552"/>
            <a:ext cx="1287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위키백과 / QMK Firmware, “Keyboard Matrix Circuit” · “How a Matrix Works”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5606000" y="34783104"/>
            <a:ext cx="72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0FA37D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7.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6326000" y="34783104"/>
            <a:ext cx="12870000" cy="201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222222"/>
                </a:solidFill>
                <a:latin typeface="메모먼트꾹꾹체" panose="02000503000000000000" pitchFamily="2" charset="-127"/>
                <a:ea typeface="메모먼트꾹꾹체" panose="02000503000000000000" pitchFamily="2" charset="-127"/>
              </a:rPr>
              <a:t>Suggate 외, “The Effect of Fine Motor Skills, Handwriting, and Typing on Reading Development”, Journal of Experimental Child Psychology (2023)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9994</TotalTime>
  <Words>935</Words>
  <Application>Microsoft Office PowerPoint</Application>
  <PresentationFormat>사용자 지정</PresentationFormat>
  <Paragraphs>184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메모먼트꾹꾹체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채성 이</cp:lastModifiedBy>
  <cp:revision>2</cp:revision>
  <dcterms:created xsi:type="dcterms:W3CDTF">2013-01-27T09:14:16Z</dcterms:created>
  <dcterms:modified xsi:type="dcterms:W3CDTF">2026-09-19T05:13:32Z</dcterms:modified>
  <cp:category/>
</cp:coreProperties>
</file>
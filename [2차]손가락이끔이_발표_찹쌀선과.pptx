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Ikf6BZv3X/K7RpAzivBmJO5e+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6400" cy="4968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49688" y="0"/>
            <a:ext cx="2946400" cy="4968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450" y="4776788"/>
            <a:ext cx="5438775" cy="39084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9429750"/>
            <a:ext cx="2946400" cy="4968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49688" y="9429750"/>
            <a:ext cx="2946400" cy="49688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제가 만든 작품은 어느 손가락으로 쳤는지 아는 타법 교정 시스템입니다. 최근, 정보화 시대로 접어들며 컴퓨터 사용자가 느는 만큼 독수리 타법을 쓰는 사람들이 늘어나고 있어 문제가 되고 있습니다.</a:t>
            </a:r>
            <a:endParaRPr/>
          </a:p>
        </p:txBody>
      </p:sp>
      <p:sp>
        <p:nvSpPr>
          <p:cNvPr id="25" name="Google Shape;25;p1: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제가 소개할 내용들은 현재의 문제, 작품 소개, 작품의 핵심 기술, 결과 및 발전 방향입니다.</a:t>
            </a:r>
            <a:endParaRPr/>
          </a:p>
        </p:txBody>
      </p:sp>
      <p:sp>
        <p:nvSpPr>
          <p:cNvPr id="35" name="Google Shape;35;p2: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우선 독수리 타법은 한 손에 한두 손가락만 이용하기 때문에 매우 느립니다. 또, 손목을 꺾고, 손가락을 무리하게 뻗기 때문에 아픕니다.</a:t>
            </a:r>
            <a:endParaRPr/>
          </a:p>
          <a:p>
            <a:pPr indent="0" lvl="0" marL="0" rtl="0" algn="l">
              <a:spcBef>
                <a:spcPts val="0"/>
              </a:spcBef>
              <a:spcAft>
                <a:spcPts val="0"/>
              </a:spcAft>
              <a:buNone/>
            </a:pPr>
            <a:r>
              <a:rPr lang="ko-KR"/>
              <a:t>마지막으로, 운지 습관은 근육 기억으로 저장되기 때문에 초기에 바로잡지 않는다면 나중에는 고치기 어려워집니다. 이는 손목터널 증후군으로 이어질 수 있습니다.</a:t>
            </a:r>
            <a:endParaRPr/>
          </a:p>
        </p:txBody>
      </p:sp>
      <p:sp>
        <p:nvSpPr>
          <p:cNvPr id="53" name="Google Shape;53;p3: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기존 프로그램인 한컴타자 등 프로그램은 어느 키를 쳤는지만 인식합니다. 그러나 저희 작품은 어느 손가락으로 어느 키를 쳤는지 정확하게 인식할 수 있으므로 독수리 타법을 감지할 수 있습니다.</a:t>
            </a:r>
            <a:endParaRPr/>
          </a:p>
        </p:txBody>
      </p:sp>
      <p:sp>
        <p:nvSpPr>
          <p:cNvPr id="72" name="Google Shape;72;p4: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저희 작품은 어느 손가락으로 쳤는지를 인식하기 위하여 손가락마다 구리 패드를 부착하였습니다. 이로 타자를 치는 동시에 신호를 감지할 수 있습니다.</a:t>
            </a:r>
            <a:endParaRPr/>
          </a:p>
        </p:txBody>
      </p:sp>
      <p:sp>
        <p:nvSpPr>
          <p:cNvPr id="89" name="Google Shape;89;p5: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저희 작품의 큰 구조는 다음과 같습니다. 감지부, 측정부입니다. 우선 감지부에서는 장갑 신호를 아두이노로 전송하여 손가락을 인식합니다. 측정부에서는 웹 타자연습 앱을 통해 기존의 한컴타자에 더해 올바른 운지율을 기록합니다. 이 둘을 연동할 때에는 신호를 합쳐 사용자의 타자입력을 분석합니다.</a:t>
            </a:r>
            <a:endParaRPr/>
          </a:p>
        </p:txBody>
      </p:sp>
      <p:sp>
        <p:nvSpPr>
          <p:cNvPr id="110" name="Google Shape;110;p6: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측정부는 직접 만든 웹 타자연습 앱을 이용할 것입니다. 이는 HTML, 자바스크립트, CSS 로 코딩했고 VERCEL 서버에 배포하여 링크만 치면 들어갈 수 있습니다.</a:t>
            </a:r>
            <a:endParaRPr/>
          </a:p>
        </p:txBody>
      </p:sp>
      <p:sp>
        <p:nvSpPr>
          <p:cNvPr id="130" name="Google Shape;130;p7: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저희 작품의 핵심 아이디어는 감지부로 들어온 손가락의 신호와 컴퓨터로 입력된 타자를 연동하는 것입니다. 이때 저희 작품은 행렬을 사용했습니다. 손가락을 행으로, 타자를 열로 측정하여 만일 옳은 신호가 있는 행렬 좌표와 겹친다면 옳은 운지를 한 것으로 처리하게 하였습니다.</a:t>
            </a:r>
            <a:endParaRPr/>
          </a:p>
        </p:txBody>
      </p:sp>
      <p:sp>
        <p:nvSpPr>
          <p:cNvPr id="143" name="Google Shape;143;p8: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저희 프로그램은 감지부와 측정부의 두 신호를 합칠 때에 0.6초를 활용했습니다. 이는 0.6초라는 시간 안에 두 신호가 오면 그 두 신호를 같은 신호로 처리하는 방법입니다.</a:t>
            </a:r>
            <a:endParaRPr/>
          </a:p>
        </p:txBody>
      </p:sp>
      <p:sp>
        <p:nvSpPr>
          <p:cNvPr id="179" name="Google Shape;179;p9: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저희 작품의 핵심 소프트웨어는 HTML,CSS,JAVASCRIPT 바닐라로 만들었고 웹 시리얼 API 를 이용해 아두이노 신호를 감지했습니다.</a:t>
            </a:r>
            <a:endParaRPr/>
          </a:p>
        </p:txBody>
      </p:sp>
      <p:sp>
        <p:nvSpPr>
          <p:cNvPr id="195" name="Google Shape;195;p1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저희 작품의 결과는 올바른 운지율을 측정할 수 있다는 것입니다. 이는 올바른 손가락으로 올바른 타자를 친 횟수로 운지율을 개선하며 올바르게 칠 수 있다는 장점을 가지고 있습니다.</a:t>
            </a:r>
            <a:endParaRPr/>
          </a:p>
        </p:txBody>
      </p:sp>
      <p:sp>
        <p:nvSpPr>
          <p:cNvPr id="226" name="Google Shape;226;p11: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저희 프로젝트는 이미 웹 타자연습 앱을 만들었고 아두이노 감지부는 테스트를 기다리고 있어 마지막 단계입니다. 향후에는 사용자 테스트를 통해 이 앱의 효과를 검증할 예정입니다.</a:t>
            </a:r>
            <a:endParaRPr/>
          </a:p>
        </p:txBody>
      </p:sp>
      <p:sp>
        <p:nvSpPr>
          <p:cNvPr id="250" name="Google Shape;250;p12: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3: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저희 프로젝트의 기대 효과는 올바른 습관을 기를 수 있다는 것과 즉시 교정을 할 수 있다는 것입니다. 앞으로는 장갑으로 인한 타수 감소를 없애기 위해 무선화하고 장갑도 스티커로 소형화할 예정입니다.</a:t>
            </a:r>
            <a:endParaRPr/>
          </a:p>
        </p:txBody>
      </p:sp>
      <p:sp>
        <p:nvSpPr>
          <p:cNvPr id="279" name="Google Shape;279;p13: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4:notes"/>
          <p:cNvSpPr txBox="1"/>
          <p:nvPr>
            <p:ph idx="1" type="body"/>
          </p:nvPr>
        </p:nvSpPr>
        <p:spPr>
          <a:xfrm>
            <a:off x="679450" y="4776788"/>
            <a:ext cx="5438775" cy="3908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ko-KR"/>
              <a:t>감사합니다.</a:t>
            </a:r>
            <a:endParaRPr/>
          </a:p>
        </p:txBody>
      </p:sp>
      <p:sp>
        <p:nvSpPr>
          <p:cNvPr id="301" name="Google Shape;301;p14: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5" name="Shape 15"/>
        <p:cNvGrpSpPr/>
        <p:nvPr/>
      </p:nvGrpSpPr>
      <p:grpSpPr>
        <a:xfrm>
          <a:off x="0" y="0"/>
          <a:ext cx="0" cy="0"/>
          <a:chOff x="0" y="0"/>
          <a:chExt cx="0" cy="0"/>
        </a:xfrm>
      </p:grpSpPr>
      <p:pic>
        <p:nvPicPr>
          <p:cNvPr id="16" name="Google Shape;16;p16"/>
          <p:cNvPicPr preferRelativeResize="0"/>
          <p:nvPr/>
        </p:nvPicPr>
        <p:blipFill rotWithShape="1">
          <a:blip r:embed="rId2">
            <a:alphaModFix/>
          </a:blip>
          <a:srcRect b="0" l="0" r="0" t="0"/>
          <a:stretch/>
        </p:blipFill>
        <p:spPr>
          <a:xfrm>
            <a:off x="0" y="1"/>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사용자 지정 레이아웃">
  <p:cSld name="1_사용자 지정 레이아웃">
    <p:spTree>
      <p:nvGrpSpPr>
        <p:cNvPr id="17" name="Shape 17"/>
        <p:cNvGrpSpPr/>
        <p:nvPr/>
      </p:nvGrpSpPr>
      <p:grpSpPr>
        <a:xfrm>
          <a:off x="0" y="0"/>
          <a:ext cx="0" cy="0"/>
          <a:chOff x="0" y="0"/>
          <a:chExt cx="0" cy="0"/>
        </a:xfrm>
      </p:grpSpPr>
      <p:pic>
        <p:nvPicPr>
          <p:cNvPr id="18" name="Google Shape;18;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2_사용자 지정 레이아웃">
    <p:spTree>
      <p:nvGrpSpPr>
        <p:cNvPr id="19" name="Shape 19"/>
        <p:cNvGrpSpPr/>
        <p:nvPr/>
      </p:nvGrpSpPr>
      <p:grpSpPr>
        <a:xfrm>
          <a:off x="0" y="0"/>
          <a:ext cx="0" cy="0"/>
          <a:chOff x="0" y="0"/>
          <a:chExt cx="0" cy="0"/>
        </a:xfrm>
      </p:grpSpPr>
      <p:pic>
        <p:nvPicPr>
          <p:cNvPr id="20" name="Google Shape;20;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사용자 지정 레이아웃">
  <p:cSld name="사용자 지정 레이아웃">
    <p:spTree>
      <p:nvGrpSpPr>
        <p:cNvPr id="21" name="Shape 21"/>
        <p:cNvGrpSpPr/>
        <p:nvPr/>
      </p:nvGrpSpPr>
      <p:grpSpPr>
        <a:xfrm>
          <a:off x="0" y="0"/>
          <a:ext cx="0" cy="0"/>
          <a:chOff x="0" y="0"/>
          <a:chExt cx="0" cy="0"/>
        </a:xfrm>
      </p:grpSpPr>
      <p:pic>
        <p:nvPicPr>
          <p:cNvPr id="22" name="Google Shape;22;p19"/>
          <p:cNvPicPr preferRelativeResize="0"/>
          <p:nvPr/>
        </p:nvPicPr>
        <p:blipFill rotWithShape="1">
          <a:blip r:embed="rId2">
            <a:alphaModFix/>
          </a:blip>
          <a:srcRect b="0" l="0" r="0" t="0"/>
          <a:stretch/>
        </p:blipFill>
        <p:spPr>
          <a:xfrm>
            <a:off x="0" y="1"/>
            <a:ext cx="12192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Malgun Gothic"/>
                <a:ea typeface="Malgun Gothic"/>
                <a:cs typeface="Malgun Gothic"/>
                <a:sym typeface="Malgun Gothic"/>
              </a:defRPr>
            </a:lvl1pPr>
            <a:lvl2pPr indent="0" lvl="1" marL="0" marR="0" rtl="0" algn="r">
              <a:spcBef>
                <a:spcPts val="0"/>
              </a:spcBef>
              <a:buNone/>
              <a:defRPr b="0" i="0" sz="1200" u="none" cap="none" strike="noStrike">
                <a:solidFill>
                  <a:srgbClr val="757575"/>
                </a:solidFill>
                <a:latin typeface="Malgun Gothic"/>
                <a:ea typeface="Malgun Gothic"/>
                <a:cs typeface="Malgun Gothic"/>
                <a:sym typeface="Malgun Gothic"/>
              </a:defRPr>
            </a:lvl2pPr>
            <a:lvl3pPr indent="0" lvl="2" marL="0" marR="0" rtl="0" algn="r">
              <a:spcBef>
                <a:spcPts val="0"/>
              </a:spcBef>
              <a:buNone/>
              <a:defRPr b="0" i="0" sz="1200" u="none" cap="none" strike="noStrike">
                <a:solidFill>
                  <a:srgbClr val="757575"/>
                </a:solidFill>
                <a:latin typeface="Malgun Gothic"/>
                <a:ea typeface="Malgun Gothic"/>
                <a:cs typeface="Malgun Gothic"/>
                <a:sym typeface="Malgun Gothic"/>
              </a:defRPr>
            </a:lvl3pPr>
            <a:lvl4pPr indent="0" lvl="3" marL="0" marR="0" rtl="0" algn="r">
              <a:spcBef>
                <a:spcPts val="0"/>
              </a:spcBef>
              <a:buNone/>
              <a:defRPr b="0" i="0" sz="1200" u="none" cap="none" strike="noStrike">
                <a:solidFill>
                  <a:srgbClr val="757575"/>
                </a:solidFill>
                <a:latin typeface="Malgun Gothic"/>
                <a:ea typeface="Malgun Gothic"/>
                <a:cs typeface="Malgun Gothic"/>
                <a:sym typeface="Malgun Gothic"/>
              </a:defRPr>
            </a:lvl4pPr>
            <a:lvl5pPr indent="0" lvl="4" marL="0" marR="0" rtl="0" algn="r">
              <a:spcBef>
                <a:spcPts val="0"/>
              </a:spcBef>
              <a:buNone/>
              <a:defRPr b="0" i="0" sz="1200" u="none" cap="none" strike="noStrike">
                <a:solidFill>
                  <a:srgbClr val="757575"/>
                </a:solidFill>
                <a:latin typeface="Malgun Gothic"/>
                <a:ea typeface="Malgun Gothic"/>
                <a:cs typeface="Malgun Gothic"/>
                <a:sym typeface="Malgun Gothic"/>
              </a:defRPr>
            </a:lvl5pPr>
            <a:lvl6pPr indent="0" lvl="5" marL="0" marR="0" rtl="0" algn="r">
              <a:spcBef>
                <a:spcPts val="0"/>
              </a:spcBef>
              <a:buNone/>
              <a:defRPr b="0" i="0" sz="1200" u="none" cap="none" strike="noStrike">
                <a:solidFill>
                  <a:srgbClr val="757575"/>
                </a:solidFill>
                <a:latin typeface="Malgun Gothic"/>
                <a:ea typeface="Malgun Gothic"/>
                <a:cs typeface="Malgun Gothic"/>
                <a:sym typeface="Malgun Gothic"/>
              </a:defRPr>
            </a:lvl6pPr>
            <a:lvl7pPr indent="0" lvl="6" marL="0" marR="0" rtl="0" algn="r">
              <a:spcBef>
                <a:spcPts val="0"/>
              </a:spcBef>
              <a:buNone/>
              <a:defRPr b="0" i="0" sz="1200" u="none" cap="none" strike="noStrike">
                <a:solidFill>
                  <a:srgbClr val="757575"/>
                </a:solidFill>
                <a:latin typeface="Malgun Gothic"/>
                <a:ea typeface="Malgun Gothic"/>
                <a:cs typeface="Malgun Gothic"/>
                <a:sym typeface="Malgun Gothic"/>
              </a:defRPr>
            </a:lvl7pPr>
            <a:lvl8pPr indent="0" lvl="7" marL="0" marR="0" rtl="0" algn="r">
              <a:spcBef>
                <a:spcPts val="0"/>
              </a:spcBef>
              <a:buNone/>
              <a:defRPr b="0" i="0" sz="1200" u="none" cap="none" strike="noStrike">
                <a:solidFill>
                  <a:srgbClr val="757575"/>
                </a:solidFill>
                <a:latin typeface="Malgun Gothic"/>
                <a:ea typeface="Malgun Gothic"/>
                <a:cs typeface="Malgun Gothic"/>
                <a:sym typeface="Malgun Gothic"/>
              </a:defRPr>
            </a:lvl8pPr>
            <a:lvl9pPr indent="0" lvl="8" marL="0" marR="0" rtl="0" algn="r">
              <a:spcBef>
                <a:spcPts val="0"/>
              </a:spcBef>
              <a:buNone/>
              <a:defRPr b="0" i="0" sz="1200" u="none" cap="none" strike="noStrike">
                <a:solidFill>
                  <a:srgbClr val="757575"/>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txBox="1"/>
          <p:nvPr/>
        </p:nvSpPr>
        <p:spPr>
          <a:xfrm>
            <a:off x="759269" y="1048030"/>
            <a:ext cx="9419204" cy="469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1" i="0" lang="ko-KR" sz="2400" u="none" cap="none" strike="noStrike">
                <a:solidFill>
                  <a:schemeClr val="dk1"/>
                </a:solidFill>
                <a:latin typeface="Arial"/>
                <a:ea typeface="Arial"/>
                <a:cs typeface="Arial"/>
                <a:sym typeface="Arial"/>
              </a:rPr>
              <a:t>2026년 제8회 한국코드페어 SW공모전 2차 온라인 예선 </a:t>
            </a:r>
            <a:endParaRPr b="1" i="0" sz="2400" u="none" cap="none" strike="noStrike">
              <a:solidFill>
                <a:schemeClr val="dk1"/>
              </a:solidFill>
              <a:latin typeface="Arial"/>
              <a:ea typeface="Arial"/>
              <a:cs typeface="Arial"/>
              <a:sym typeface="Arial"/>
            </a:endParaRPr>
          </a:p>
        </p:txBody>
      </p:sp>
      <p:sp>
        <p:nvSpPr>
          <p:cNvPr id="28" name="Google Shape;28;p1"/>
          <p:cNvSpPr/>
          <p:nvPr/>
        </p:nvSpPr>
        <p:spPr>
          <a:xfrm>
            <a:off x="759270" y="5622886"/>
            <a:ext cx="5336730" cy="700732"/>
          </a:xfrm>
          <a:prstGeom prst="roundRect">
            <a:avLst>
              <a:gd fmla="val 16667" name="adj"/>
            </a:avLst>
          </a:prstGeom>
          <a:solidFill>
            <a:schemeClr val="lt1"/>
          </a:solidFill>
          <a:ln>
            <a:noFill/>
          </a:ln>
          <a:effectLst>
            <a:outerShdw blurRad="363490" sx="102451" rotWithShape="0" algn="ctr" dir="1680000" dist="182214" sy="102451">
              <a:srgbClr val="000000">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29" name="Google Shape;29;p1"/>
          <p:cNvSpPr txBox="1"/>
          <p:nvPr/>
        </p:nvSpPr>
        <p:spPr>
          <a:xfrm>
            <a:off x="837086" y="5742419"/>
            <a:ext cx="514977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ko-KR" sz="2400" u="none" cap="none" strike="noStrike">
                <a:solidFill>
                  <a:schemeClr val="dk1"/>
                </a:solidFill>
                <a:latin typeface="Arial"/>
                <a:ea typeface="Arial"/>
                <a:cs typeface="Arial"/>
                <a:sym typeface="Arial"/>
              </a:rPr>
              <a:t>팀명 : 찹쌀선과</a:t>
            </a:r>
            <a:endParaRPr b="1" sz="1800">
              <a:solidFill>
                <a:schemeClr val="dk1"/>
              </a:solidFill>
              <a:latin typeface="Arial"/>
              <a:ea typeface="Arial"/>
              <a:cs typeface="Arial"/>
              <a:sym typeface="Arial"/>
            </a:endParaRPr>
          </a:p>
        </p:txBody>
      </p:sp>
      <p:sp>
        <p:nvSpPr>
          <p:cNvPr id="30" name="Google Shape;30;p1"/>
          <p:cNvSpPr txBox="1"/>
          <p:nvPr/>
        </p:nvSpPr>
        <p:spPr>
          <a:xfrm>
            <a:off x="719786" y="2106297"/>
            <a:ext cx="7498079" cy="86168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Arial"/>
              <a:buNone/>
            </a:pPr>
            <a:r>
              <a:rPr b="1" lang="ko-KR" sz="4000" u="none">
                <a:solidFill>
                  <a:schemeClr val="dk1"/>
                </a:solidFill>
                <a:latin typeface="Arial"/>
                <a:ea typeface="Arial"/>
                <a:cs typeface="Arial"/>
                <a:sym typeface="Arial"/>
              </a:rPr>
              <a:t>작품명 : 손가락 이끔이</a:t>
            </a:r>
            <a:endParaRPr b="1" sz="5400" u="none">
              <a:solidFill>
                <a:schemeClr val="dk1"/>
              </a:solidFill>
              <a:latin typeface="Arial"/>
              <a:ea typeface="Arial"/>
              <a:cs typeface="Arial"/>
              <a:sym typeface="Arial"/>
            </a:endParaRPr>
          </a:p>
        </p:txBody>
      </p:sp>
      <p:sp>
        <p:nvSpPr>
          <p:cNvPr id="31" name="Google Shape;31;p1"/>
          <p:cNvSpPr txBox="1"/>
          <p:nvPr/>
        </p:nvSpPr>
        <p:spPr>
          <a:xfrm>
            <a:off x="758952" y="3063240"/>
            <a:ext cx="7315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000">
                <a:solidFill>
                  <a:srgbClr val="032994"/>
                </a:solidFill>
                <a:latin typeface="Arial"/>
                <a:ea typeface="Arial"/>
                <a:cs typeface="Arial"/>
                <a:sym typeface="Arial"/>
              </a:rPr>
              <a:t>어느 손가락으로 쳤는지 아는 타법 교정 시스템</a:t>
            </a:r>
            <a:endParaRPr/>
          </a:p>
        </p:txBody>
      </p:sp>
      <p:sp>
        <p:nvSpPr>
          <p:cNvPr id="32" name="Google Shape;32;p1"/>
          <p:cNvSpPr txBox="1"/>
          <p:nvPr/>
        </p:nvSpPr>
        <p:spPr>
          <a:xfrm>
            <a:off x="758952" y="3520440"/>
            <a:ext cx="73152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500">
                <a:solidFill>
                  <a:srgbClr val="6B7A90"/>
                </a:solidFill>
                <a:latin typeface="Arial"/>
                <a:ea typeface="Arial"/>
                <a:cs typeface="Arial"/>
                <a:sym typeface="Arial"/>
              </a:rPr>
              <a:t>Physical Computing + SW 통합 작품</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2"/>
          <p:cNvSpPr txBox="1"/>
          <p:nvPr/>
        </p:nvSpPr>
        <p:spPr>
          <a:xfrm>
            <a:off x="976233" y="1065491"/>
            <a:ext cx="29029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3600">
                <a:solidFill>
                  <a:schemeClr val="dk1"/>
                </a:solidFill>
                <a:latin typeface="Arial"/>
                <a:ea typeface="Arial"/>
                <a:cs typeface="Arial"/>
                <a:sym typeface="Arial"/>
              </a:rPr>
              <a:t>CONTENTS</a:t>
            </a:r>
            <a:endParaRPr b="1" sz="2800">
              <a:solidFill>
                <a:schemeClr val="dk1"/>
              </a:solidFill>
              <a:latin typeface="Arial"/>
              <a:ea typeface="Arial"/>
              <a:cs typeface="Arial"/>
              <a:sym typeface="Arial"/>
            </a:endParaRPr>
          </a:p>
        </p:txBody>
      </p:sp>
      <p:sp>
        <p:nvSpPr>
          <p:cNvPr id="38" name="Google Shape;38;p2"/>
          <p:cNvSpPr txBox="1"/>
          <p:nvPr/>
        </p:nvSpPr>
        <p:spPr>
          <a:xfrm>
            <a:off x="1019162" y="873624"/>
            <a:ext cx="520614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Arial"/>
                <a:ea typeface="Arial"/>
                <a:cs typeface="Arial"/>
                <a:sym typeface="Arial"/>
              </a:rPr>
              <a:t>2026년 제8회 한국코드페어 SW공모전 2차 온라인 예선</a:t>
            </a:r>
            <a:endParaRPr/>
          </a:p>
        </p:txBody>
      </p:sp>
      <p:sp>
        <p:nvSpPr>
          <p:cNvPr id="39" name="Google Shape;39;p2"/>
          <p:cNvSpPr txBox="1"/>
          <p:nvPr/>
        </p:nvSpPr>
        <p:spPr>
          <a:xfrm>
            <a:off x="1289304" y="2084831"/>
            <a:ext cx="9144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3000">
                <a:solidFill>
                  <a:srgbClr val="12203A"/>
                </a:solidFill>
                <a:latin typeface="Arial"/>
                <a:ea typeface="Arial"/>
                <a:cs typeface="Arial"/>
                <a:sym typeface="Arial"/>
              </a:rPr>
              <a:t>01.</a:t>
            </a:r>
            <a:endParaRPr/>
          </a:p>
        </p:txBody>
      </p:sp>
      <p:sp>
        <p:nvSpPr>
          <p:cNvPr id="40" name="Google Shape;40;p2"/>
          <p:cNvSpPr txBox="1"/>
          <p:nvPr/>
        </p:nvSpPr>
        <p:spPr>
          <a:xfrm>
            <a:off x="2331720" y="2103120"/>
            <a:ext cx="448056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200">
                <a:solidFill>
                  <a:srgbClr val="032994"/>
                </a:solidFill>
                <a:latin typeface="Arial"/>
                <a:ea typeface="Arial"/>
                <a:cs typeface="Arial"/>
                <a:sym typeface="Arial"/>
              </a:rPr>
              <a:t>문제 정의</a:t>
            </a:r>
            <a:endParaRPr/>
          </a:p>
        </p:txBody>
      </p:sp>
      <p:sp>
        <p:nvSpPr>
          <p:cNvPr id="41" name="Google Shape;41;p2"/>
          <p:cNvSpPr txBox="1"/>
          <p:nvPr/>
        </p:nvSpPr>
        <p:spPr>
          <a:xfrm>
            <a:off x="2350008" y="2523744"/>
            <a:ext cx="44805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6B7A90"/>
                </a:solidFill>
                <a:latin typeface="Arial"/>
                <a:ea typeface="Arial"/>
                <a:cs typeface="Arial"/>
                <a:sym typeface="Arial"/>
              </a:rPr>
              <a:t>왜 지금 타법을 바로잡아야 하나</a:t>
            </a:r>
            <a:endParaRPr/>
          </a:p>
        </p:txBody>
      </p:sp>
      <p:sp>
        <p:nvSpPr>
          <p:cNvPr id="42" name="Google Shape;42;p2"/>
          <p:cNvSpPr txBox="1"/>
          <p:nvPr/>
        </p:nvSpPr>
        <p:spPr>
          <a:xfrm>
            <a:off x="1289304" y="3108960"/>
            <a:ext cx="9144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3000">
                <a:solidFill>
                  <a:srgbClr val="12203A"/>
                </a:solidFill>
                <a:latin typeface="Arial"/>
                <a:ea typeface="Arial"/>
                <a:cs typeface="Arial"/>
                <a:sym typeface="Arial"/>
              </a:rPr>
              <a:t>02.</a:t>
            </a:r>
            <a:endParaRPr/>
          </a:p>
        </p:txBody>
      </p:sp>
      <p:sp>
        <p:nvSpPr>
          <p:cNvPr id="43" name="Google Shape;43;p2"/>
          <p:cNvSpPr txBox="1"/>
          <p:nvPr/>
        </p:nvSpPr>
        <p:spPr>
          <a:xfrm>
            <a:off x="2331720" y="3127248"/>
            <a:ext cx="448056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200">
                <a:solidFill>
                  <a:srgbClr val="032994"/>
                </a:solidFill>
                <a:latin typeface="Arial"/>
                <a:ea typeface="Arial"/>
                <a:cs typeface="Arial"/>
                <a:sym typeface="Arial"/>
              </a:rPr>
              <a:t>작품 소개</a:t>
            </a:r>
            <a:endParaRPr/>
          </a:p>
        </p:txBody>
      </p:sp>
      <p:sp>
        <p:nvSpPr>
          <p:cNvPr id="44" name="Google Shape;44;p2"/>
          <p:cNvSpPr txBox="1"/>
          <p:nvPr/>
        </p:nvSpPr>
        <p:spPr>
          <a:xfrm>
            <a:off x="2350008" y="3547872"/>
            <a:ext cx="44805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6B7A90"/>
                </a:solidFill>
                <a:latin typeface="Arial"/>
                <a:ea typeface="Arial"/>
                <a:cs typeface="Arial"/>
                <a:sym typeface="Arial"/>
              </a:rPr>
              <a:t>손가락 이끔이 — 무엇을 만들었나</a:t>
            </a:r>
            <a:endParaRPr/>
          </a:p>
        </p:txBody>
      </p:sp>
      <p:sp>
        <p:nvSpPr>
          <p:cNvPr id="45" name="Google Shape;45;p2"/>
          <p:cNvSpPr txBox="1"/>
          <p:nvPr/>
        </p:nvSpPr>
        <p:spPr>
          <a:xfrm>
            <a:off x="1289304" y="4133087"/>
            <a:ext cx="9144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3000">
                <a:solidFill>
                  <a:srgbClr val="12203A"/>
                </a:solidFill>
                <a:latin typeface="Arial"/>
                <a:ea typeface="Arial"/>
                <a:cs typeface="Arial"/>
                <a:sym typeface="Arial"/>
              </a:rPr>
              <a:t>03.</a:t>
            </a:r>
            <a:endParaRPr/>
          </a:p>
        </p:txBody>
      </p:sp>
      <p:sp>
        <p:nvSpPr>
          <p:cNvPr id="46" name="Google Shape;46;p2"/>
          <p:cNvSpPr txBox="1"/>
          <p:nvPr/>
        </p:nvSpPr>
        <p:spPr>
          <a:xfrm>
            <a:off x="2331720" y="4151375"/>
            <a:ext cx="448056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200">
                <a:solidFill>
                  <a:srgbClr val="032994"/>
                </a:solidFill>
                <a:latin typeface="Arial"/>
                <a:ea typeface="Arial"/>
                <a:cs typeface="Arial"/>
                <a:sym typeface="Arial"/>
              </a:rPr>
              <a:t>핵심 구현</a:t>
            </a:r>
            <a:endParaRPr/>
          </a:p>
        </p:txBody>
      </p:sp>
      <p:sp>
        <p:nvSpPr>
          <p:cNvPr id="47" name="Google Shape;47;p2"/>
          <p:cNvSpPr txBox="1"/>
          <p:nvPr/>
        </p:nvSpPr>
        <p:spPr>
          <a:xfrm>
            <a:off x="2350008" y="4572000"/>
            <a:ext cx="44805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6B7A90"/>
                </a:solidFill>
                <a:latin typeface="Arial"/>
                <a:ea typeface="Arial"/>
                <a:cs typeface="Arial"/>
                <a:sym typeface="Arial"/>
              </a:rPr>
              <a:t>어느 손가락인지 어떻게 알아내나</a:t>
            </a:r>
            <a:endParaRPr/>
          </a:p>
        </p:txBody>
      </p:sp>
      <p:sp>
        <p:nvSpPr>
          <p:cNvPr id="48" name="Google Shape;48;p2"/>
          <p:cNvSpPr txBox="1"/>
          <p:nvPr/>
        </p:nvSpPr>
        <p:spPr>
          <a:xfrm>
            <a:off x="1289304" y="5157216"/>
            <a:ext cx="9144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3000">
                <a:solidFill>
                  <a:srgbClr val="12203A"/>
                </a:solidFill>
                <a:latin typeface="Arial"/>
                <a:ea typeface="Arial"/>
                <a:cs typeface="Arial"/>
                <a:sym typeface="Arial"/>
              </a:rPr>
              <a:t>04.</a:t>
            </a:r>
            <a:endParaRPr/>
          </a:p>
        </p:txBody>
      </p:sp>
      <p:sp>
        <p:nvSpPr>
          <p:cNvPr id="49" name="Google Shape;49;p2"/>
          <p:cNvSpPr txBox="1"/>
          <p:nvPr/>
        </p:nvSpPr>
        <p:spPr>
          <a:xfrm>
            <a:off x="2331720" y="5175504"/>
            <a:ext cx="448056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200">
                <a:solidFill>
                  <a:srgbClr val="032994"/>
                </a:solidFill>
                <a:latin typeface="Arial"/>
                <a:ea typeface="Arial"/>
                <a:cs typeface="Arial"/>
                <a:sym typeface="Arial"/>
              </a:rPr>
              <a:t>결과와 발전 방안</a:t>
            </a:r>
            <a:endParaRPr/>
          </a:p>
        </p:txBody>
      </p:sp>
      <p:sp>
        <p:nvSpPr>
          <p:cNvPr id="50" name="Google Shape;50;p2"/>
          <p:cNvSpPr txBox="1"/>
          <p:nvPr/>
        </p:nvSpPr>
        <p:spPr>
          <a:xfrm>
            <a:off x="2350008" y="5596128"/>
            <a:ext cx="44805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6B7A90"/>
                </a:solidFill>
                <a:latin typeface="Arial"/>
                <a:ea typeface="Arial"/>
                <a:cs typeface="Arial"/>
                <a:sym typeface="Arial"/>
              </a:rPr>
              <a:t>무엇을 잴 수 있게 되었나</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3"/>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56" name="Google Shape;56;p3"/>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01. 문제 정의</a:t>
            </a:r>
            <a:endParaRPr/>
          </a:p>
        </p:txBody>
      </p:sp>
      <p:sp>
        <p:nvSpPr>
          <p:cNvPr id="57" name="Google Shape;57;p3"/>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독수리 타법, 초등학생 때가 마지막 기회입니다</a:t>
            </a:r>
            <a:endParaRPr/>
          </a:p>
        </p:txBody>
      </p:sp>
      <p:sp>
        <p:nvSpPr>
          <p:cNvPr id="58" name="Google Shape;58;p3"/>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3 / 14</a:t>
            </a:r>
            <a:endParaRPr/>
          </a:p>
        </p:txBody>
      </p:sp>
      <p:sp>
        <p:nvSpPr>
          <p:cNvPr id="59" name="Google Shape;59;p3"/>
          <p:cNvSpPr/>
          <p:nvPr/>
        </p:nvSpPr>
        <p:spPr>
          <a:xfrm>
            <a:off x="685800" y="1691640"/>
            <a:ext cx="3429000" cy="233172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60" name="Google Shape;60;p3"/>
          <p:cNvSpPr txBox="1"/>
          <p:nvPr/>
        </p:nvSpPr>
        <p:spPr>
          <a:xfrm>
            <a:off x="978408" y="1920240"/>
            <a:ext cx="28346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200">
                <a:solidFill>
                  <a:srgbClr val="E23D3D"/>
                </a:solidFill>
                <a:latin typeface="Arial"/>
                <a:ea typeface="Arial"/>
                <a:cs typeface="Arial"/>
                <a:sym typeface="Arial"/>
              </a:rPr>
              <a:t>느립니다</a:t>
            </a:r>
            <a:endParaRPr/>
          </a:p>
        </p:txBody>
      </p:sp>
      <p:sp>
        <p:nvSpPr>
          <p:cNvPr id="61" name="Google Shape;61;p3"/>
          <p:cNvSpPr txBox="1"/>
          <p:nvPr/>
        </p:nvSpPr>
        <p:spPr>
          <a:xfrm>
            <a:off x="978408" y="2514600"/>
            <a:ext cx="2880360" cy="13716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b="0" lang="ko-KR" sz="1400">
                <a:solidFill>
                  <a:srgbClr val="6B7A90"/>
                </a:solidFill>
                <a:latin typeface="Arial"/>
                <a:ea typeface="Arial"/>
                <a:cs typeface="Arial"/>
                <a:sym typeface="Arial"/>
              </a:rPr>
              <a:t>한 손에 한두 손가락으로</a:t>
            </a:r>
            <a:endParaRPr/>
          </a:p>
          <a:p>
            <a:pPr indent="0" lvl="0" marL="0" marR="0" rtl="0" algn="l">
              <a:lnSpc>
                <a:spcPct val="140000"/>
              </a:lnSpc>
              <a:spcBef>
                <a:spcPts val="0"/>
              </a:spcBef>
              <a:spcAft>
                <a:spcPts val="0"/>
              </a:spcAft>
              <a:buNone/>
            </a:pPr>
            <a:r>
              <a:rPr b="0" lang="ko-KR" sz="1400">
                <a:solidFill>
                  <a:srgbClr val="6B7A90"/>
                </a:solidFill>
                <a:latin typeface="Arial"/>
                <a:ea typeface="Arial"/>
                <a:cs typeface="Arial"/>
                <a:sym typeface="Arial"/>
              </a:rPr>
              <a:t>키를 하나씩 '찾아서' 누름</a:t>
            </a:r>
            <a:endParaRPr/>
          </a:p>
          <a:p>
            <a:pPr indent="0" lvl="0" marL="0" marR="0" rtl="0" algn="l">
              <a:lnSpc>
                <a:spcPct val="140000"/>
              </a:lnSpc>
              <a:spcBef>
                <a:spcPts val="0"/>
              </a:spcBef>
              <a:spcAft>
                <a:spcPts val="0"/>
              </a:spcAft>
              <a:buNone/>
            </a:pPr>
            <a:r>
              <a:rPr b="0" lang="ko-KR" sz="1400">
                <a:solidFill>
                  <a:srgbClr val="6B7A90"/>
                </a:solidFill>
                <a:latin typeface="Arial"/>
                <a:ea typeface="Arial"/>
                <a:cs typeface="Arial"/>
                <a:sym typeface="Arial"/>
              </a:rPr>
              <a:t>→ 속도·정확도 모두 저하</a:t>
            </a:r>
            <a:endParaRPr/>
          </a:p>
        </p:txBody>
      </p:sp>
      <p:sp>
        <p:nvSpPr>
          <p:cNvPr id="62" name="Google Shape;62;p3"/>
          <p:cNvSpPr/>
          <p:nvPr/>
        </p:nvSpPr>
        <p:spPr>
          <a:xfrm>
            <a:off x="4389120" y="1691640"/>
            <a:ext cx="3429000" cy="233172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63" name="Google Shape;63;p3"/>
          <p:cNvSpPr txBox="1"/>
          <p:nvPr/>
        </p:nvSpPr>
        <p:spPr>
          <a:xfrm>
            <a:off x="4681728" y="1920240"/>
            <a:ext cx="28346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200">
                <a:solidFill>
                  <a:srgbClr val="E23D3D"/>
                </a:solidFill>
                <a:latin typeface="Arial"/>
                <a:ea typeface="Arial"/>
                <a:cs typeface="Arial"/>
                <a:sym typeface="Arial"/>
              </a:rPr>
              <a:t>아픕니다</a:t>
            </a:r>
            <a:endParaRPr/>
          </a:p>
        </p:txBody>
      </p:sp>
      <p:sp>
        <p:nvSpPr>
          <p:cNvPr id="64" name="Google Shape;64;p3"/>
          <p:cNvSpPr txBox="1"/>
          <p:nvPr/>
        </p:nvSpPr>
        <p:spPr>
          <a:xfrm>
            <a:off x="4681728" y="2514600"/>
            <a:ext cx="2880360" cy="13716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b="0" lang="ko-KR" sz="1400">
                <a:solidFill>
                  <a:srgbClr val="6B7A90"/>
                </a:solidFill>
                <a:latin typeface="Arial"/>
                <a:ea typeface="Arial"/>
                <a:cs typeface="Arial"/>
                <a:sym typeface="Arial"/>
              </a:rPr>
              <a:t>손목을 꺾고 손가락을</a:t>
            </a:r>
            <a:endParaRPr/>
          </a:p>
          <a:p>
            <a:pPr indent="0" lvl="0" marL="0" marR="0" rtl="0" algn="l">
              <a:lnSpc>
                <a:spcPct val="140000"/>
              </a:lnSpc>
              <a:spcBef>
                <a:spcPts val="0"/>
              </a:spcBef>
              <a:spcAft>
                <a:spcPts val="0"/>
              </a:spcAft>
              <a:buNone/>
            </a:pPr>
            <a:r>
              <a:rPr b="0" lang="ko-KR" sz="1400">
                <a:solidFill>
                  <a:srgbClr val="6B7A90"/>
                </a:solidFill>
                <a:latin typeface="Arial"/>
                <a:ea typeface="Arial"/>
                <a:cs typeface="Arial"/>
                <a:sym typeface="Arial"/>
              </a:rPr>
              <a:t>무리하게 뻗음</a:t>
            </a:r>
            <a:endParaRPr/>
          </a:p>
          <a:p>
            <a:pPr indent="0" lvl="0" marL="0" marR="0" rtl="0" algn="l">
              <a:lnSpc>
                <a:spcPct val="140000"/>
              </a:lnSpc>
              <a:spcBef>
                <a:spcPts val="0"/>
              </a:spcBef>
              <a:spcAft>
                <a:spcPts val="0"/>
              </a:spcAft>
              <a:buNone/>
            </a:pPr>
            <a:r>
              <a:rPr b="0" lang="ko-KR" sz="1400">
                <a:solidFill>
                  <a:srgbClr val="6B7A90"/>
                </a:solidFill>
                <a:latin typeface="Arial"/>
                <a:ea typeface="Arial"/>
                <a:cs typeface="Arial"/>
                <a:sym typeface="Arial"/>
              </a:rPr>
              <a:t>→ 반복사용긴장성손상(RSI) 위험</a:t>
            </a:r>
            <a:endParaRPr/>
          </a:p>
        </p:txBody>
      </p:sp>
      <p:sp>
        <p:nvSpPr>
          <p:cNvPr id="65" name="Google Shape;65;p3"/>
          <p:cNvSpPr/>
          <p:nvPr/>
        </p:nvSpPr>
        <p:spPr>
          <a:xfrm>
            <a:off x="8092440" y="1691640"/>
            <a:ext cx="3429000" cy="233172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66" name="Google Shape;66;p3"/>
          <p:cNvSpPr txBox="1"/>
          <p:nvPr/>
        </p:nvSpPr>
        <p:spPr>
          <a:xfrm>
            <a:off x="8385048" y="1920240"/>
            <a:ext cx="2834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200">
                <a:solidFill>
                  <a:srgbClr val="E23D3D"/>
                </a:solidFill>
                <a:latin typeface="Arial"/>
                <a:ea typeface="Arial"/>
                <a:cs typeface="Arial"/>
                <a:sym typeface="Arial"/>
              </a:rPr>
              <a:t>굳습니다</a:t>
            </a:r>
            <a:endParaRPr>
              <a:solidFill>
                <a:srgbClr val="E23D3D"/>
              </a:solidFill>
            </a:endParaRPr>
          </a:p>
        </p:txBody>
      </p:sp>
      <p:sp>
        <p:nvSpPr>
          <p:cNvPr id="67" name="Google Shape;67;p3"/>
          <p:cNvSpPr txBox="1"/>
          <p:nvPr/>
        </p:nvSpPr>
        <p:spPr>
          <a:xfrm>
            <a:off x="8385048" y="2514600"/>
            <a:ext cx="2880360" cy="13716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b="0" lang="ko-KR" sz="1400">
                <a:solidFill>
                  <a:srgbClr val="6B7A90"/>
                </a:solidFill>
                <a:latin typeface="Arial"/>
                <a:ea typeface="Arial"/>
                <a:cs typeface="Arial"/>
                <a:sym typeface="Arial"/>
              </a:rPr>
              <a:t>운지 습관은 '근육 기억'으로 저장</a:t>
            </a:r>
            <a:endParaRPr/>
          </a:p>
          <a:p>
            <a:pPr indent="0" lvl="0" marL="0" marR="0" rtl="0" algn="l">
              <a:lnSpc>
                <a:spcPct val="140000"/>
              </a:lnSpc>
              <a:spcBef>
                <a:spcPts val="0"/>
              </a:spcBef>
              <a:spcAft>
                <a:spcPts val="0"/>
              </a:spcAft>
              <a:buNone/>
            </a:pPr>
            <a:r>
              <a:rPr b="0" lang="ko-KR" sz="1400">
                <a:solidFill>
                  <a:srgbClr val="6B7A90"/>
                </a:solidFill>
                <a:latin typeface="Arial"/>
                <a:ea typeface="Arial"/>
                <a:cs typeface="Arial"/>
                <a:sym typeface="Arial"/>
              </a:rPr>
              <a:t>→ 커서 고치기 훨씬 어려움</a:t>
            </a:r>
            <a:endParaRPr/>
          </a:p>
        </p:txBody>
      </p:sp>
      <p:sp>
        <p:nvSpPr>
          <p:cNvPr id="68" name="Google Shape;68;p3"/>
          <p:cNvSpPr/>
          <p:nvPr/>
        </p:nvSpPr>
        <p:spPr>
          <a:xfrm>
            <a:off x="685800" y="4343400"/>
            <a:ext cx="10835640" cy="1005840"/>
          </a:xfrm>
          <a:prstGeom prst="roundRect">
            <a:avLst>
              <a:gd fmla="val 6000" name="adj"/>
            </a:avLst>
          </a:prstGeom>
          <a:solidFill>
            <a:srgbClr val="E8F1FE"/>
          </a:solidFill>
          <a:ln cap="flat" cmpd="sng" w="15875">
            <a:solidFill>
              <a:srgbClr val="1F6FEB"/>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2100">
                <a:solidFill>
                  <a:srgbClr val="032994"/>
                </a:solidFill>
                <a:latin typeface="Arial"/>
                <a:ea typeface="Arial"/>
                <a:cs typeface="Arial"/>
                <a:sym typeface="Arial"/>
              </a:rPr>
              <a:t>그래서 초등 시기가 교정의 골든타임 — 지금 잡아야 합니다</a:t>
            </a:r>
            <a:endParaRPr/>
          </a:p>
        </p:txBody>
      </p:sp>
      <p:sp>
        <p:nvSpPr>
          <p:cNvPr id="69" name="Google Shape;69;p3"/>
          <p:cNvSpPr txBox="1"/>
          <p:nvPr/>
        </p:nvSpPr>
        <p:spPr>
          <a:xfrm>
            <a:off x="713232" y="5577840"/>
            <a:ext cx="107899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6B7A90"/>
                </a:solidFill>
                <a:latin typeface="Arial"/>
                <a:ea typeface="Arial"/>
                <a:cs typeface="Arial"/>
                <a:sym typeface="Arial"/>
              </a:rPr>
              <a:t>근거: 초등 대상 키보딩 교육 연구(Donica et al., 2018 외) · 상세 출처는 작품설명서 참고</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75" name="Google Shape;75;p4"/>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01. 문제 정의</a:t>
            </a:r>
            <a:endParaRPr/>
          </a:p>
        </p:txBody>
      </p:sp>
      <p:sp>
        <p:nvSpPr>
          <p:cNvPr id="76" name="Google Shape;76;p4"/>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기존 프로그램은 '손가락'을 볼 수 없습니다</a:t>
            </a:r>
            <a:endParaRPr/>
          </a:p>
        </p:txBody>
      </p:sp>
      <p:sp>
        <p:nvSpPr>
          <p:cNvPr id="77" name="Google Shape;77;p4"/>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4 / 14</a:t>
            </a:r>
            <a:endParaRPr/>
          </a:p>
        </p:txBody>
      </p:sp>
      <p:sp>
        <p:nvSpPr>
          <p:cNvPr id="78" name="Google Shape;78;p4"/>
          <p:cNvSpPr/>
          <p:nvPr/>
        </p:nvSpPr>
        <p:spPr>
          <a:xfrm>
            <a:off x="685800" y="1691640"/>
            <a:ext cx="5303520" cy="260604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79" name="Google Shape;79;p4"/>
          <p:cNvSpPr txBox="1"/>
          <p:nvPr/>
        </p:nvSpPr>
        <p:spPr>
          <a:xfrm>
            <a:off x="960120" y="1920240"/>
            <a:ext cx="47548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500">
                <a:solidFill>
                  <a:srgbClr val="6B7A90"/>
                </a:solidFill>
                <a:latin typeface="Arial"/>
                <a:ea typeface="Arial"/>
                <a:cs typeface="Arial"/>
                <a:sym typeface="Arial"/>
              </a:rPr>
              <a:t>기존 타자 프로그램</a:t>
            </a:r>
            <a:endParaRPr/>
          </a:p>
        </p:txBody>
      </p:sp>
      <p:sp>
        <p:nvSpPr>
          <p:cNvPr id="80" name="Google Shape;80;p4"/>
          <p:cNvSpPr txBox="1"/>
          <p:nvPr/>
        </p:nvSpPr>
        <p:spPr>
          <a:xfrm>
            <a:off x="960120" y="2377440"/>
            <a:ext cx="4754880" cy="6400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3300">
                <a:solidFill>
                  <a:srgbClr val="6B7A90"/>
                </a:solidFill>
                <a:latin typeface="Arial"/>
                <a:ea typeface="Arial"/>
                <a:cs typeface="Arial"/>
                <a:sym typeface="Arial"/>
              </a:rPr>
              <a:t>"어떤 키?"</a:t>
            </a:r>
            <a:endParaRPr/>
          </a:p>
        </p:txBody>
      </p:sp>
      <p:sp>
        <p:nvSpPr>
          <p:cNvPr id="81" name="Google Shape;81;p4"/>
          <p:cNvSpPr txBox="1"/>
          <p:nvPr/>
        </p:nvSpPr>
        <p:spPr>
          <a:xfrm>
            <a:off x="960120" y="3108960"/>
            <a:ext cx="4754880" cy="822960"/>
          </a:xfrm>
          <a:prstGeom prst="rect">
            <a:avLst/>
          </a:prstGeom>
          <a:noFill/>
          <a:ln>
            <a:noFill/>
          </a:ln>
        </p:spPr>
        <p:txBody>
          <a:bodyPr anchorCtr="0" anchor="t" bIns="45700" lIns="91425" spcFirstLastPara="1" rIns="91425" wrap="square" tIns="45700">
            <a:spAutoFit/>
          </a:bodyPr>
          <a:lstStyle/>
          <a:p>
            <a:pPr indent="0" lvl="0" marL="0" marR="0" rtl="0" algn="l">
              <a:lnSpc>
                <a:spcPct val="135000"/>
              </a:lnSpc>
              <a:spcBef>
                <a:spcPts val="0"/>
              </a:spcBef>
              <a:spcAft>
                <a:spcPts val="0"/>
              </a:spcAft>
              <a:buNone/>
            </a:pPr>
            <a:r>
              <a:rPr b="0" lang="ko-KR" sz="1500">
                <a:solidFill>
                  <a:srgbClr val="6B7A90"/>
                </a:solidFill>
                <a:latin typeface="Arial"/>
                <a:ea typeface="Arial"/>
                <a:cs typeface="Arial"/>
                <a:sym typeface="Arial"/>
              </a:rPr>
              <a:t>검지로 친 A 도 A</a:t>
            </a:r>
            <a:endParaRPr/>
          </a:p>
          <a:p>
            <a:pPr indent="0" lvl="0" marL="0" marR="0" rtl="0" algn="l">
              <a:lnSpc>
                <a:spcPct val="135000"/>
              </a:lnSpc>
              <a:spcBef>
                <a:spcPts val="0"/>
              </a:spcBef>
              <a:spcAft>
                <a:spcPts val="0"/>
              </a:spcAft>
              <a:buNone/>
            </a:pPr>
            <a:r>
              <a:rPr b="0" lang="ko-KR" sz="1500">
                <a:solidFill>
                  <a:srgbClr val="6B7A90"/>
                </a:solidFill>
                <a:latin typeface="Arial"/>
                <a:ea typeface="Arial"/>
                <a:cs typeface="Arial"/>
                <a:sym typeface="Arial"/>
              </a:rPr>
              <a:t>새끼로 친 A 도 A  →  구별 불가</a:t>
            </a:r>
            <a:endParaRPr/>
          </a:p>
        </p:txBody>
      </p:sp>
      <p:sp>
        <p:nvSpPr>
          <p:cNvPr id="82" name="Google Shape;82;p4"/>
          <p:cNvSpPr/>
          <p:nvPr/>
        </p:nvSpPr>
        <p:spPr>
          <a:xfrm>
            <a:off x="6263640" y="1691640"/>
            <a:ext cx="5257800" cy="2606040"/>
          </a:xfrm>
          <a:prstGeom prst="roundRect">
            <a:avLst>
              <a:gd fmla="val 6000" name="adj"/>
            </a:avLst>
          </a:prstGeom>
          <a:solidFill>
            <a:srgbClr val="E8F1FE"/>
          </a:solidFill>
          <a:ln cap="flat" cmpd="sng" w="25400">
            <a:solidFill>
              <a:srgbClr val="1F6F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83" name="Google Shape;83;p4"/>
          <p:cNvSpPr txBox="1"/>
          <p:nvPr/>
        </p:nvSpPr>
        <p:spPr>
          <a:xfrm>
            <a:off x="6537960" y="1920240"/>
            <a:ext cx="47548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500">
                <a:solidFill>
                  <a:srgbClr val="1F6FEB"/>
                </a:solidFill>
                <a:latin typeface="Arial"/>
                <a:ea typeface="Arial"/>
                <a:cs typeface="Arial"/>
                <a:sym typeface="Arial"/>
              </a:rPr>
              <a:t>손가락 이끔이</a:t>
            </a:r>
            <a:endParaRPr/>
          </a:p>
        </p:txBody>
      </p:sp>
      <p:sp>
        <p:nvSpPr>
          <p:cNvPr id="84" name="Google Shape;84;p4"/>
          <p:cNvSpPr txBox="1"/>
          <p:nvPr/>
        </p:nvSpPr>
        <p:spPr>
          <a:xfrm>
            <a:off x="6537960" y="2377440"/>
            <a:ext cx="4754880" cy="6400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3300">
                <a:solidFill>
                  <a:srgbClr val="032994"/>
                </a:solidFill>
                <a:latin typeface="Arial"/>
                <a:ea typeface="Arial"/>
                <a:cs typeface="Arial"/>
                <a:sym typeface="Arial"/>
              </a:rPr>
              <a:t>"어떤 손가락?"</a:t>
            </a:r>
            <a:endParaRPr/>
          </a:p>
        </p:txBody>
      </p:sp>
      <p:sp>
        <p:nvSpPr>
          <p:cNvPr id="85" name="Google Shape;85;p4"/>
          <p:cNvSpPr txBox="1"/>
          <p:nvPr/>
        </p:nvSpPr>
        <p:spPr>
          <a:xfrm>
            <a:off x="6537960" y="3108960"/>
            <a:ext cx="4754880" cy="822960"/>
          </a:xfrm>
          <a:prstGeom prst="rect">
            <a:avLst/>
          </a:prstGeom>
          <a:noFill/>
          <a:ln>
            <a:noFill/>
          </a:ln>
        </p:spPr>
        <p:txBody>
          <a:bodyPr anchorCtr="0" anchor="t" bIns="45700" lIns="91425" spcFirstLastPara="1" rIns="91425" wrap="square" tIns="45700">
            <a:spAutoFit/>
          </a:bodyPr>
          <a:lstStyle/>
          <a:p>
            <a:pPr indent="0" lvl="0" marL="0" marR="0" rtl="0" algn="l">
              <a:lnSpc>
                <a:spcPct val="135000"/>
              </a:lnSpc>
              <a:spcBef>
                <a:spcPts val="0"/>
              </a:spcBef>
              <a:spcAft>
                <a:spcPts val="0"/>
              </a:spcAft>
              <a:buNone/>
            </a:pPr>
            <a:r>
              <a:rPr b="0" lang="ko-KR" sz="1500">
                <a:solidFill>
                  <a:srgbClr val="12203A"/>
                </a:solidFill>
                <a:latin typeface="Arial"/>
                <a:ea typeface="Arial"/>
                <a:cs typeface="Arial"/>
                <a:sym typeface="Arial"/>
              </a:rPr>
              <a:t>아두이노가 손가락을 직접 감지</a:t>
            </a:r>
            <a:endParaRPr/>
          </a:p>
          <a:p>
            <a:pPr indent="0" lvl="0" marL="0" marR="0" rtl="0" algn="l">
              <a:lnSpc>
                <a:spcPct val="135000"/>
              </a:lnSpc>
              <a:spcBef>
                <a:spcPts val="0"/>
              </a:spcBef>
              <a:spcAft>
                <a:spcPts val="0"/>
              </a:spcAft>
              <a:buNone/>
            </a:pPr>
            <a:r>
              <a:rPr b="0" lang="ko-KR" sz="1500">
                <a:solidFill>
                  <a:srgbClr val="12203A"/>
                </a:solidFill>
                <a:latin typeface="Arial"/>
                <a:ea typeface="Arial"/>
                <a:cs typeface="Arial"/>
                <a:sym typeface="Arial"/>
              </a:rPr>
              <a:t>→ 독수리 타법을 잡아냄</a:t>
            </a:r>
            <a:endParaRPr/>
          </a:p>
        </p:txBody>
      </p:sp>
      <p:sp>
        <p:nvSpPr>
          <p:cNvPr id="86" name="Google Shape;86;p4"/>
          <p:cNvSpPr/>
          <p:nvPr/>
        </p:nvSpPr>
        <p:spPr>
          <a:xfrm>
            <a:off x="685800" y="4617720"/>
            <a:ext cx="10835640" cy="1005840"/>
          </a:xfrm>
          <a:prstGeom prst="roundRect">
            <a:avLst>
              <a:gd fmla="val 6000" name="adj"/>
            </a:avLst>
          </a:prstGeom>
          <a:solidFill>
            <a:srgbClr val="032994"/>
          </a:solidFill>
          <a:ln>
            <a:noFill/>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2300">
                <a:solidFill>
                  <a:srgbClr val="FFFFFF"/>
                </a:solidFill>
                <a:latin typeface="Arial"/>
                <a:ea typeface="Arial"/>
                <a:cs typeface="Arial"/>
                <a:sym typeface="Arial"/>
              </a:rPr>
              <a:t>"한</a:t>
            </a:r>
            <a:r>
              <a:rPr b="1" lang="ko-KR" sz="2300">
                <a:solidFill>
                  <a:srgbClr val="FFFFFF"/>
                </a:solidFill>
              </a:rPr>
              <a:t>컴</a:t>
            </a:r>
            <a:r>
              <a:rPr b="1" lang="ko-KR" sz="2300">
                <a:solidFill>
                  <a:srgbClr val="FFFFFF"/>
                </a:solidFill>
                <a:latin typeface="Arial"/>
                <a:ea typeface="Arial"/>
                <a:cs typeface="Arial"/>
                <a:sym typeface="Arial"/>
              </a:rPr>
              <a:t>타자가 못 하는 것을 </a:t>
            </a:r>
            <a:r>
              <a:rPr b="1" lang="ko-KR" sz="2300">
                <a:solidFill>
                  <a:srgbClr val="FFFFFF"/>
                </a:solidFill>
              </a:rPr>
              <a:t>합니다</a:t>
            </a:r>
            <a:r>
              <a:rPr b="1" lang="ko-KR" sz="2300">
                <a:solidFill>
                  <a:srgbClr val="FFFFFF"/>
                </a:solidFill>
                <a:latin typeface="Arial"/>
                <a:ea typeface="Arial"/>
                <a:cs typeface="Arial"/>
                <a:sym typeface="Arial"/>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92" name="Google Shape;92;p5"/>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02. 작품 소개</a:t>
            </a:r>
            <a:endParaRPr/>
          </a:p>
        </p:txBody>
      </p:sp>
      <p:sp>
        <p:nvSpPr>
          <p:cNvPr id="93" name="Google Shape;93;p5"/>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핵심 아이디어</a:t>
            </a:r>
            <a:endParaRPr/>
          </a:p>
        </p:txBody>
      </p:sp>
      <p:sp>
        <p:nvSpPr>
          <p:cNvPr id="94" name="Google Shape;94;p5"/>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5 / 14</a:t>
            </a:r>
            <a:endParaRPr/>
          </a:p>
        </p:txBody>
      </p:sp>
      <p:sp>
        <p:nvSpPr>
          <p:cNvPr id="95" name="Google Shape;95;p5"/>
          <p:cNvSpPr/>
          <p:nvPr/>
        </p:nvSpPr>
        <p:spPr>
          <a:xfrm>
            <a:off x="685800" y="1691640"/>
            <a:ext cx="10835640" cy="1783080"/>
          </a:xfrm>
          <a:prstGeom prst="roundRect">
            <a:avLst>
              <a:gd fmla="val 6000" name="adj"/>
            </a:avLst>
          </a:prstGeom>
          <a:solidFill>
            <a:srgbClr val="E8F1FE"/>
          </a:solidFill>
          <a:ln cap="flat" cmpd="sng" w="25400">
            <a:solidFill>
              <a:srgbClr val="1F6FEB"/>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2900">
                <a:solidFill>
                  <a:srgbClr val="12203A"/>
                </a:solidFill>
                <a:latin typeface="Arial"/>
                <a:ea typeface="Arial"/>
                <a:cs typeface="Arial"/>
                <a:sym typeface="Arial"/>
              </a:rPr>
              <a:t>손가락마다 고유한 전선을 연결하면,</a:t>
            </a:r>
            <a:endParaRPr/>
          </a:p>
          <a:p>
            <a:pPr indent="0" lvl="0" marL="0" marR="0" rtl="0" algn="ctr">
              <a:lnSpc>
                <a:spcPct val="120000"/>
              </a:lnSpc>
              <a:spcBef>
                <a:spcPts val="0"/>
              </a:spcBef>
              <a:spcAft>
                <a:spcPts val="0"/>
              </a:spcAft>
              <a:buNone/>
            </a:pPr>
            <a:r>
              <a:rPr b="1" lang="ko-KR" sz="2900">
                <a:solidFill>
                  <a:srgbClr val="12203A"/>
                </a:solidFill>
                <a:latin typeface="Arial"/>
                <a:ea typeface="Arial"/>
                <a:cs typeface="Arial"/>
                <a:sym typeface="Arial"/>
              </a:rPr>
              <a:t>그 전선이 곧 '손가락 ID'가 된다</a:t>
            </a:r>
            <a:endParaRPr/>
          </a:p>
        </p:txBody>
      </p:sp>
      <p:sp>
        <p:nvSpPr>
          <p:cNvPr id="96" name="Google Shape;96;p5"/>
          <p:cNvSpPr/>
          <p:nvPr/>
        </p:nvSpPr>
        <p:spPr>
          <a:xfrm>
            <a:off x="1371600" y="3794760"/>
            <a:ext cx="2788920" cy="146304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97" name="Google Shape;97;p5"/>
          <p:cNvSpPr/>
          <p:nvPr/>
        </p:nvSpPr>
        <p:spPr>
          <a:xfrm>
            <a:off x="1572768" y="4041648"/>
            <a:ext cx="502920" cy="502920"/>
          </a:xfrm>
          <a:prstGeom prst="ellipse">
            <a:avLst/>
          </a:prstGeom>
          <a:solidFill>
            <a:srgbClr val="032994"/>
          </a:solidFill>
          <a:ln>
            <a:noFill/>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1700">
                <a:solidFill>
                  <a:srgbClr val="FFFFFF"/>
                </a:solidFill>
                <a:latin typeface="Arial"/>
                <a:ea typeface="Arial"/>
                <a:cs typeface="Arial"/>
                <a:sym typeface="Arial"/>
              </a:rPr>
              <a:t>1</a:t>
            </a:r>
            <a:endParaRPr/>
          </a:p>
        </p:txBody>
      </p:sp>
      <p:sp>
        <p:nvSpPr>
          <p:cNvPr id="98" name="Google Shape;98;p5"/>
          <p:cNvSpPr txBox="1"/>
          <p:nvPr/>
        </p:nvSpPr>
        <p:spPr>
          <a:xfrm>
            <a:off x="2240280" y="4041648"/>
            <a:ext cx="1828800" cy="100584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1" lang="ko-KR" sz="1500">
                <a:solidFill>
                  <a:srgbClr val="12203A"/>
                </a:solidFill>
                <a:latin typeface="Arial"/>
                <a:ea typeface="Arial"/>
                <a:cs typeface="Arial"/>
                <a:sym typeface="Arial"/>
              </a:rPr>
              <a:t>장갑 손끝에</a:t>
            </a:r>
            <a:endParaRPr/>
          </a:p>
          <a:p>
            <a:pPr indent="0" lvl="0" marL="0" marR="0" rtl="0" algn="l">
              <a:lnSpc>
                <a:spcPct val="130000"/>
              </a:lnSpc>
              <a:spcBef>
                <a:spcPts val="0"/>
              </a:spcBef>
              <a:spcAft>
                <a:spcPts val="0"/>
              </a:spcAft>
              <a:buNone/>
            </a:pPr>
            <a:r>
              <a:rPr b="1" lang="ko-KR" sz="1500">
                <a:solidFill>
                  <a:srgbClr val="12203A"/>
                </a:solidFill>
                <a:latin typeface="Arial"/>
                <a:ea typeface="Arial"/>
                <a:cs typeface="Arial"/>
                <a:sym typeface="Arial"/>
              </a:rPr>
              <a:t>구리 패드</a:t>
            </a:r>
            <a:endParaRPr/>
          </a:p>
        </p:txBody>
      </p:sp>
      <p:sp>
        <p:nvSpPr>
          <p:cNvPr id="99" name="Google Shape;99;p5"/>
          <p:cNvSpPr txBox="1"/>
          <p:nvPr/>
        </p:nvSpPr>
        <p:spPr>
          <a:xfrm>
            <a:off x="4206240" y="4206240"/>
            <a:ext cx="54864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ko-KR" sz="2400">
                <a:solidFill>
                  <a:srgbClr val="1F6FEB"/>
                </a:solidFill>
                <a:latin typeface="Arial"/>
                <a:ea typeface="Arial"/>
                <a:cs typeface="Arial"/>
                <a:sym typeface="Arial"/>
              </a:rPr>
              <a:t>→</a:t>
            </a:r>
            <a:endParaRPr/>
          </a:p>
        </p:txBody>
      </p:sp>
      <p:sp>
        <p:nvSpPr>
          <p:cNvPr id="100" name="Google Shape;100;p5"/>
          <p:cNvSpPr/>
          <p:nvPr/>
        </p:nvSpPr>
        <p:spPr>
          <a:xfrm>
            <a:off x="4800600" y="3794760"/>
            <a:ext cx="2788920" cy="146304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01" name="Google Shape;101;p5"/>
          <p:cNvSpPr/>
          <p:nvPr/>
        </p:nvSpPr>
        <p:spPr>
          <a:xfrm>
            <a:off x="5001768" y="4041648"/>
            <a:ext cx="502920" cy="502920"/>
          </a:xfrm>
          <a:prstGeom prst="ellipse">
            <a:avLst/>
          </a:prstGeom>
          <a:solidFill>
            <a:srgbClr val="032994"/>
          </a:solidFill>
          <a:ln>
            <a:noFill/>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1700">
                <a:solidFill>
                  <a:srgbClr val="FFFFFF"/>
                </a:solidFill>
                <a:latin typeface="Arial"/>
                <a:ea typeface="Arial"/>
                <a:cs typeface="Arial"/>
                <a:sym typeface="Arial"/>
              </a:rPr>
              <a:t>2</a:t>
            </a:r>
            <a:endParaRPr/>
          </a:p>
        </p:txBody>
      </p:sp>
      <p:sp>
        <p:nvSpPr>
          <p:cNvPr id="102" name="Google Shape;102;p5"/>
          <p:cNvSpPr txBox="1"/>
          <p:nvPr/>
        </p:nvSpPr>
        <p:spPr>
          <a:xfrm>
            <a:off x="5669280" y="4041648"/>
            <a:ext cx="1828800" cy="100584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1" lang="ko-KR" sz="1500">
                <a:solidFill>
                  <a:srgbClr val="12203A"/>
                </a:solidFill>
                <a:latin typeface="Arial"/>
                <a:ea typeface="Arial"/>
                <a:cs typeface="Arial"/>
                <a:sym typeface="Arial"/>
              </a:rPr>
              <a:t>손가락마다</a:t>
            </a:r>
            <a:endParaRPr/>
          </a:p>
          <a:p>
            <a:pPr indent="0" lvl="0" marL="0" marR="0" rtl="0" algn="l">
              <a:lnSpc>
                <a:spcPct val="130000"/>
              </a:lnSpc>
              <a:spcBef>
                <a:spcPts val="0"/>
              </a:spcBef>
              <a:spcAft>
                <a:spcPts val="0"/>
              </a:spcAft>
              <a:buNone/>
            </a:pPr>
            <a:r>
              <a:rPr b="1" lang="ko-KR" sz="1500">
                <a:solidFill>
                  <a:srgbClr val="12203A"/>
                </a:solidFill>
                <a:latin typeface="Arial"/>
                <a:ea typeface="Arial"/>
                <a:cs typeface="Arial"/>
                <a:sym typeface="Arial"/>
              </a:rPr>
              <a:t>다른 전선</a:t>
            </a:r>
            <a:endParaRPr/>
          </a:p>
        </p:txBody>
      </p:sp>
      <p:sp>
        <p:nvSpPr>
          <p:cNvPr id="103" name="Google Shape;103;p5"/>
          <p:cNvSpPr txBox="1"/>
          <p:nvPr/>
        </p:nvSpPr>
        <p:spPr>
          <a:xfrm>
            <a:off x="7635240" y="4206240"/>
            <a:ext cx="54864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ko-KR" sz="2400">
                <a:solidFill>
                  <a:srgbClr val="1F6FEB"/>
                </a:solidFill>
                <a:latin typeface="Arial"/>
                <a:ea typeface="Arial"/>
                <a:cs typeface="Arial"/>
                <a:sym typeface="Arial"/>
              </a:rPr>
              <a:t>→</a:t>
            </a:r>
            <a:endParaRPr/>
          </a:p>
        </p:txBody>
      </p:sp>
      <p:sp>
        <p:nvSpPr>
          <p:cNvPr id="104" name="Google Shape;104;p5"/>
          <p:cNvSpPr/>
          <p:nvPr/>
        </p:nvSpPr>
        <p:spPr>
          <a:xfrm>
            <a:off x="8229600" y="3794760"/>
            <a:ext cx="2788920" cy="146304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05" name="Google Shape;105;p5"/>
          <p:cNvSpPr/>
          <p:nvPr/>
        </p:nvSpPr>
        <p:spPr>
          <a:xfrm>
            <a:off x="8430768" y="4041648"/>
            <a:ext cx="502920" cy="502920"/>
          </a:xfrm>
          <a:prstGeom prst="ellipse">
            <a:avLst/>
          </a:prstGeom>
          <a:solidFill>
            <a:srgbClr val="032994"/>
          </a:solidFill>
          <a:ln>
            <a:noFill/>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1700">
                <a:solidFill>
                  <a:srgbClr val="FFFFFF"/>
                </a:solidFill>
                <a:latin typeface="Arial"/>
                <a:ea typeface="Arial"/>
                <a:cs typeface="Arial"/>
                <a:sym typeface="Arial"/>
              </a:rPr>
              <a:t>3</a:t>
            </a:r>
            <a:endParaRPr/>
          </a:p>
        </p:txBody>
      </p:sp>
      <p:sp>
        <p:nvSpPr>
          <p:cNvPr id="106" name="Google Shape;106;p5"/>
          <p:cNvSpPr txBox="1"/>
          <p:nvPr/>
        </p:nvSpPr>
        <p:spPr>
          <a:xfrm>
            <a:off x="9098280" y="4041648"/>
            <a:ext cx="1828800" cy="100584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1" lang="ko-KR" sz="1500">
                <a:solidFill>
                  <a:srgbClr val="12203A"/>
                </a:solidFill>
                <a:latin typeface="Arial"/>
                <a:ea typeface="Arial"/>
                <a:cs typeface="Arial"/>
                <a:sym typeface="Arial"/>
              </a:rPr>
              <a:t>신호가 온 선 =</a:t>
            </a:r>
            <a:endParaRPr/>
          </a:p>
          <a:p>
            <a:pPr indent="0" lvl="0" marL="0" marR="0" rtl="0" algn="l">
              <a:lnSpc>
                <a:spcPct val="130000"/>
              </a:lnSpc>
              <a:spcBef>
                <a:spcPts val="0"/>
              </a:spcBef>
              <a:spcAft>
                <a:spcPts val="0"/>
              </a:spcAft>
              <a:buNone/>
            </a:pPr>
            <a:r>
              <a:rPr b="1" lang="ko-KR" sz="1500">
                <a:solidFill>
                  <a:srgbClr val="12203A"/>
                </a:solidFill>
                <a:latin typeface="Arial"/>
                <a:ea typeface="Arial"/>
                <a:cs typeface="Arial"/>
                <a:sym typeface="Arial"/>
              </a:rPr>
              <a:t>누가 쳤는지</a:t>
            </a:r>
            <a:endParaRPr/>
          </a:p>
        </p:txBody>
      </p:sp>
      <p:sp>
        <p:nvSpPr>
          <p:cNvPr id="107" name="Google Shape;107;p5"/>
          <p:cNvSpPr txBox="1"/>
          <p:nvPr/>
        </p:nvSpPr>
        <p:spPr>
          <a:xfrm>
            <a:off x="713232" y="5532120"/>
            <a:ext cx="107899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6B7A90"/>
                </a:solidFill>
                <a:latin typeface="Arial"/>
                <a:ea typeface="Arial"/>
                <a:cs typeface="Arial"/>
                <a:sym typeface="Arial"/>
              </a:rPr>
              <a:t>키에만 센서를 붙이면 '닿았다'만 알 뿐, 누가 눌렀는지는 알 수 없습니다</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13" name="Google Shape;113;p6"/>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02. 작품 소개</a:t>
            </a:r>
            <a:endParaRPr/>
          </a:p>
        </p:txBody>
      </p:sp>
      <p:sp>
        <p:nvSpPr>
          <p:cNvPr id="114" name="Google Shape;114;p6"/>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세 부분이 하나로 — 통합 시스템</a:t>
            </a:r>
            <a:endParaRPr/>
          </a:p>
        </p:txBody>
      </p:sp>
      <p:sp>
        <p:nvSpPr>
          <p:cNvPr id="115" name="Google Shape;115;p6"/>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6 / 14</a:t>
            </a:r>
            <a:endParaRPr/>
          </a:p>
        </p:txBody>
      </p:sp>
      <p:sp>
        <p:nvSpPr>
          <p:cNvPr id="116" name="Google Shape;116;p6"/>
          <p:cNvSpPr/>
          <p:nvPr/>
        </p:nvSpPr>
        <p:spPr>
          <a:xfrm>
            <a:off x="685800" y="1737360"/>
            <a:ext cx="3246120" cy="265176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17" name="Google Shape;117;p6"/>
          <p:cNvSpPr txBox="1"/>
          <p:nvPr/>
        </p:nvSpPr>
        <p:spPr>
          <a:xfrm>
            <a:off x="941832" y="1947672"/>
            <a:ext cx="283464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500">
                <a:solidFill>
                  <a:srgbClr val="032994"/>
                </a:solidFill>
                <a:latin typeface="Arial"/>
                <a:ea typeface="Arial"/>
                <a:cs typeface="Arial"/>
                <a:sym typeface="Arial"/>
              </a:rPr>
              <a:t>① 감지부  (HW)</a:t>
            </a:r>
            <a:endParaRPr/>
          </a:p>
        </p:txBody>
      </p:sp>
      <p:sp>
        <p:nvSpPr>
          <p:cNvPr id="118" name="Google Shape;118;p6"/>
          <p:cNvSpPr txBox="1"/>
          <p:nvPr/>
        </p:nvSpPr>
        <p:spPr>
          <a:xfrm>
            <a:off x="941832" y="2450592"/>
            <a:ext cx="278892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아두이노 + 장갑</a:t>
            </a:r>
            <a:endParaRPr/>
          </a:p>
          <a:p>
            <a:pPr indent="0" lvl="0" marL="0" marR="0" rtl="0" algn="l">
              <a:lnSpc>
                <a:spcPct val="140000"/>
              </a:lnSpc>
              <a:spcBef>
                <a:spcPts val="0"/>
              </a:spcBef>
              <a:spcAft>
                <a:spcPts val="0"/>
              </a:spcAft>
              <a:buNone/>
            </a:pPr>
            <a:r>
              <a:t/>
            </a:r>
            <a:endParaRPr b="0" sz="1400">
              <a:solidFill>
                <a:srgbClr val="12203A"/>
              </a:solidFill>
              <a:latin typeface="Arial"/>
              <a:ea typeface="Arial"/>
              <a:cs typeface="Arial"/>
              <a:sym typeface="Arial"/>
            </a:endParaRPr>
          </a:p>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 손가락 매트릭스 스캔</a:t>
            </a:r>
            <a:endParaRPr/>
          </a:p>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 "어느 손가락 × 어느 키"</a:t>
            </a:r>
            <a:endParaRPr/>
          </a:p>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 LED·부저 즉시 경고</a:t>
            </a:r>
            <a:endParaRPr/>
          </a:p>
        </p:txBody>
      </p:sp>
      <p:sp>
        <p:nvSpPr>
          <p:cNvPr id="119" name="Google Shape;119;p6"/>
          <p:cNvSpPr/>
          <p:nvPr/>
        </p:nvSpPr>
        <p:spPr>
          <a:xfrm>
            <a:off x="4480560" y="1737360"/>
            <a:ext cx="3246120" cy="2651760"/>
          </a:xfrm>
          <a:prstGeom prst="roundRect">
            <a:avLst>
              <a:gd fmla="val 6000" name="adj"/>
            </a:avLst>
          </a:prstGeom>
          <a:solidFill>
            <a:srgbClr val="E8F1FE"/>
          </a:solidFill>
          <a:ln cap="flat" cmpd="sng" w="25400">
            <a:solidFill>
              <a:srgbClr val="1F6F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20" name="Google Shape;120;p6"/>
          <p:cNvSpPr txBox="1"/>
          <p:nvPr/>
        </p:nvSpPr>
        <p:spPr>
          <a:xfrm>
            <a:off x="4736592" y="1947672"/>
            <a:ext cx="283464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500">
                <a:solidFill>
                  <a:srgbClr val="032994"/>
                </a:solidFill>
                <a:latin typeface="Arial"/>
                <a:ea typeface="Arial"/>
                <a:cs typeface="Arial"/>
                <a:sym typeface="Arial"/>
              </a:rPr>
              <a:t>③ 연동</a:t>
            </a:r>
            <a:endParaRPr/>
          </a:p>
        </p:txBody>
      </p:sp>
      <p:sp>
        <p:nvSpPr>
          <p:cNvPr id="121" name="Google Shape;121;p6"/>
          <p:cNvSpPr txBox="1"/>
          <p:nvPr/>
        </p:nvSpPr>
        <p:spPr>
          <a:xfrm>
            <a:off x="4736592" y="2450592"/>
            <a:ext cx="278892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USB · Web Serial API</a:t>
            </a:r>
            <a:endParaRPr/>
          </a:p>
          <a:p>
            <a:pPr indent="0" lvl="0" marL="0" marR="0" rtl="0" algn="l">
              <a:lnSpc>
                <a:spcPct val="140000"/>
              </a:lnSpc>
              <a:spcBef>
                <a:spcPts val="0"/>
              </a:spcBef>
              <a:spcAft>
                <a:spcPts val="0"/>
              </a:spcAft>
              <a:buNone/>
            </a:pPr>
            <a:r>
              <a:t/>
            </a:r>
            <a:endParaRPr b="0" sz="1400">
              <a:solidFill>
                <a:srgbClr val="12203A"/>
              </a:solidFill>
              <a:latin typeface="Arial"/>
              <a:ea typeface="Arial"/>
              <a:cs typeface="Arial"/>
              <a:sym typeface="Arial"/>
            </a:endParaRPr>
          </a:p>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 브라우저가 아두이노</a:t>
            </a:r>
            <a:endParaRPr/>
          </a:p>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  신호를 직접 수신</a:t>
            </a:r>
            <a:endParaRPr/>
          </a:p>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 설치 프로그램 불필요</a:t>
            </a:r>
            <a:endParaRPr/>
          </a:p>
        </p:txBody>
      </p:sp>
      <p:sp>
        <p:nvSpPr>
          <p:cNvPr id="122" name="Google Shape;122;p6"/>
          <p:cNvSpPr/>
          <p:nvPr/>
        </p:nvSpPr>
        <p:spPr>
          <a:xfrm>
            <a:off x="8275320" y="1737360"/>
            <a:ext cx="3246120" cy="265176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23" name="Google Shape;123;p6"/>
          <p:cNvSpPr txBox="1"/>
          <p:nvPr/>
        </p:nvSpPr>
        <p:spPr>
          <a:xfrm>
            <a:off x="8531352" y="1947672"/>
            <a:ext cx="283464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500">
                <a:solidFill>
                  <a:srgbClr val="032994"/>
                </a:solidFill>
                <a:latin typeface="Arial"/>
                <a:ea typeface="Arial"/>
                <a:cs typeface="Arial"/>
                <a:sym typeface="Arial"/>
              </a:rPr>
              <a:t>② 연습·측정부  (SW)</a:t>
            </a:r>
            <a:endParaRPr/>
          </a:p>
        </p:txBody>
      </p:sp>
      <p:sp>
        <p:nvSpPr>
          <p:cNvPr id="124" name="Google Shape;124;p6"/>
          <p:cNvSpPr txBox="1"/>
          <p:nvPr/>
        </p:nvSpPr>
        <p:spPr>
          <a:xfrm>
            <a:off x="8531352" y="2450592"/>
            <a:ext cx="278892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웹 타자연습 앱 (직접 개발)</a:t>
            </a:r>
            <a:endParaRPr/>
          </a:p>
          <a:p>
            <a:pPr indent="0" lvl="0" marL="0" marR="0" rtl="0" algn="l">
              <a:lnSpc>
                <a:spcPct val="140000"/>
              </a:lnSpc>
              <a:spcBef>
                <a:spcPts val="0"/>
              </a:spcBef>
              <a:spcAft>
                <a:spcPts val="0"/>
              </a:spcAft>
              <a:buNone/>
            </a:pPr>
            <a:r>
              <a:t/>
            </a:r>
            <a:endParaRPr b="0" sz="1400">
              <a:solidFill>
                <a:srgbClr val="12203A"/>
              </a:solidFill>
              <a:latin typeface="Arial"/>
              <a:ea typeface="Arial"/>
              <a:cs typeface="Arial"/>
              <a:sym typeface="Arial"/>
            </a:endParaRPr>
          </a:p>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 키 입력: 속도·정확도</a:t>
            </a:r>
            <a:endParaRPr/>
          </a:p>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 손가락 정보와 합침</a:t>
            </a:r>
            <a:endParaRPr/>
          </a:p>
          <a:p>
            <a:pPr indent="0" lvl="0" marL="0" marR="0" rtl="0" algn="l">
              <a:lnSpc>
                <a:spcPct val="140000"/>
              </a:lnSpc>
              <a:spcBef>
                <a:spcPts val="0"/>
              </a:spcBef>
              <a:spcAft>
                <a:spcPts val="0"/>
              </a:spcAft>
              <a:buNone/>
            </a:pPr>
            <a:r>
              <a:rPr b="0" lang="ko-KR" sz="1400">
                <a:solidFill>
                  <a:srgbClr val="12203A"/>
                </a:solidFill>
                <a:latin typeface="Arial"/>
                <a:ea typeface="Arial"/>
                <a:cs typeface="Arial"/>
                <a:sym typeface="Arial"/>
              </a:rPr>
              <a:t>· 올바른 운지율 기록</a:t>
            </a:r>
            <a:endParaRPr/>
          </a:p>
        </p:txBody>
      </p:sp>
      <p:sp>
        <p:nvSpPr>
          <p:cNvPr id="125" name="Google Shape;125;p6"/>
          <p:cNvSpPr txBox="1"/>
          <p:nvPr/>
        </p:nvSpPr>
        <p:spPr>
          <a:xfrm>
            <a:off x="4041648" y="2834640"/>
            <a:ext cx="4572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ko-KR" sz="2600">
                <a:solidFill>
                  <a:srgbClr val="1F6FEB"/>
                </a:solidFill>
                <a:latin typeface="Arial"/>
                <a:ea typeface="Arial"/>
                <a:cs typeface="Arial"/>
                <a:sym typeface="Arial"/>
              </a:rPr>
              <a:t>→</a:t>
            </a:r>
            <a:endParaRPr/>
          </a:p>
        </p:txBody>
      </p:sp>
      <p:sp>
        <p:nvSpPr>
          <p:cNvPr id="126" name="Google Shape;126;p6"/>
          <p:cNvSpPr txBox="1"/>
          <p:nvPr/>
        </p:nvSpPr>
        <p:spPr>
          <a:xfrm>
            <a:off x="7818120" y="2834640"/>
            <a:ext cx="4572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ko-KR" sz="2600">
                <a:solidFill>
                  <a:srgbClr val="1F6FEB"/>
                </a:solidFill>
                <a:latin typeface="Arial"/>
                <a:ea typeface="Arial"/>
                <a:cs typeface="Arial"/>
                <a:sym typeface="Arial"/>
              </a:rPr>
              <a:t>→</a:t>
            </a:r>
            <a:endParaRPr/>
          </a:p>
        </p:txBody>
      </p:sp>
      <p:sp>
        <p:nvSpPr>
          <p:cNvPr id="127" name="Google Shape;127;p6"/>
          <p:cNvSpPr/>
          <p:nvPr/>
        </p:nvSpPr>
        <p:spPr>
          <a:xfrm>
            <a:off x="685800" y="4663440"/>
            <a:ext cx="10835640" cy="960120"/>
          </a:xfrm>
          <a:prstGeom prst="roundRect">
            <a:avLst>
              <a:gd fmla="val 6000" name="adj"/>
            </a:avLst>
          </a:prstGeom>
          <a:solidFill>
            <a:srgbClr val="032994"/>
          </a:solidFill>
          <a:ln>
            <a:noFill/>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2000">
                <a:solidFill>
                  <a:srgbClr val="FFFFFF"/>
                </a:solidFill>
                <a:latin typeface="Arial"/>
                <a:ea typeface="Arial"/>
                <a:cs typeface="Arial"/>
                <a:sym typeface="Arial"/>
              </a:rPr>
              <a:t>합쳐야 비로소 알 수 있다 — "F를, 왼손 검지로, 정확히 쳤다"</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33" name="Google Shape;133;p7"/>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02. 작품 소개</a:t>
            </a:r>
            <a:endParaRPr/>
          </a:p>
        </p:txBody>
      </p:sp>
      <p:sp>
        <p:nvSpPr>
          <p:cNvPr id="134" name="Google Shape;134;p7"/>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직접 만든 웹 타자연습 앱 (완성 · 배포 완료)</a:t>
            </a:r>
            <a:endParaRPr/>
          </a:p>
        </p:txBody>
      </p:sp>
      <p:sp>
        <p:nvSpPr>
          <p:cNvPr id="135" name="Google Shape;135;p7"/>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7 / 14</a:t>
            </a:r>
            <a:endParaRPr/>
          </a:p>
        </p:txBody>
      </p:sp>
      <p:pic>
        <p:nvPicPr>
          <p:cNvPr descr="웹앱_연습화면.png" id="136" name="Google Shape;136;p7"/>
          <p:cNvPicPr preferRelativeResize="0"/>
          <p:nvPr/>
        </p:nvPicPr>
        <p:blipFill rotWithShape="1">
          <a:blip r:embed="rId3">
            <a:alphaModFix/>
          </a:blip>
          <a:srcRect b="0" l="0" r="0" t="0"/>
          <a:stretch/>
        </p:blipFill>
        <p:spPr>
          <a:xfrm>
            <a:off x="685800" y="1600200"/>
            <a:ext cx="4364323" cy="4023360"/>
          </a:xfrm>
          <a:prstGeom prst="rect">
            <a:avLst/>
          </a:prstGeom>
          <a:noFill/>
          <a:ln>
            <a:noFill/>
          </a:ln>
        </p:spPr>
      </p:pic>
      <p:sp>
        <p:nvSpPr>
          <p:cNvPr id="137" name="Google Shape;137;p7"/>
          <p:cNvSpPr txBox="1"/>
          <p:nvPr/>
        </p:nvSpPr>
        <p:spPr>
          <a:xfrm>
            <a:off x="5760720" y="1691640"/>
            <a:ext cx="5760720" cy="45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100">
                <a:solidFill>
                  <a:srgbClr val="12203A"/>
                </a:solidFill>
                <a:latin typeface="Arial"/>
                <a:ea typeface="Arial"/>
                <a:cs typeface="Arial"/>
                <a:sym typeface="Arial"/>
              </a:rPr>
              <a:t>화면이 '칠 손가락'을 알려준다</a:t>
            </a:r>
            <a:endParaRPr/>
          </a:p>
        </p:txBody>
      </p:sp>
      <p:sp>
        <p:nvSpPr>
          <p:cNvPr id="138" name="Google Shape;138;p7"/>
          <p:cNvSpPr txBox="1"/>
          <p:nvPr/>
        </p:nvSpPr>
        <p:spPr>
          <a:xfrm>
            <a:off x="5760720" y="2286000"/>
            <a:ext cx="576072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70000"/>
              </a:lnSpc>
              <a:spcBef>
                <a:spcPts val="0"/>
              </a:spcBef>
              <a:spcAft>
                <a:spcPts val="0"/>
              </a:spcAft>
              <a:buNone/>
            </a:pPr>
            <a:r>
              <a:rPr b="0" lang="ko-KR" sz="1500">
                <a:solidFill>
                  <a:srgbClr val="6B7A90"/>
                </a:solidFill>
                <a:latin typeface="Arial"/>
                <a:ea typeface="Arial"/>
                <a:cs typeface="Arial"/>
                <a:sym typeface="Arial"/>
              </a:rPr>
              <a:t>· 손가락 9개에 고유 색을 배정 —</a:t>
            </a:r>
            <a:endParaRPr/>
          </a:p>
          <a:p>
            <a:pPr indent="0" lvl="0" marL="0" marR="0" rtl="0" algn="l">
              <a:lnSpc>
                <a:spcPct val="170000"/>
              </a:lnSpc>
              <a:spcBef>
                <a:spcPts val="0"/>
              </a:spcBef>
              <a:spcAft>
                <a:spcPts val="0"/>
              </a:spcAft>
              <a:buNone/>
            </a:pPr>
            <a:r>
              <a:rPr b="0" lang="ko-KR" sz="1500">
                <a:solidFill>
                  <a:srgbClr val="6B7A90"/>
                </a:solidFill>
                <a:latin typeface="Arial"/>
                <a:ea typeface="Arial"/>
                <a:cs typeface="Arial"/>
                <a:sym typeface="Arial"/>
              </a:rPr>
              <a:t>   손 그림·화면 키보드·그래프가 색을 공유</a:t>
            </a:r>
            <a:endParaRPr/>
          </a:p>
          <a:p>
            <a:pPr indent="0" lvl="0" marL="0" marR="0" rtl="0" algn="l">
              <a:lnSpc>
                <a:spcPct val="170000"/>
              </a:lnSpc>
              <a:spcBef>
                <a:spcPts val="0"/>
              </a:spcBef>
              <a:spcAft>
                <a:spcPts val="0"/>
              </a:spcAft>
              <a:buNone/>
            </a:pPr>
            <a:r>
              <a:rPr b="0" lang="ko-KR" sz="1500">
                <a:solidFill>
                  <a:srgbClr val="6B7A90"/>
                </a:solidFill>
                <a:latin typeface="Arial"/>
                <a:ea typeface="Arial"/>
                <a:cs typeface="Arial"/>
                <a:sym typeface="Arial"/>
              </a:rPr>
              <a:t>· 지금 칠 손가락이 손 그림에서 발광</a:t>
            </a:r>
            <a:endParaRPr/>
          </a:p>
          <a:p>
            <a:pPr indent="0" lvl="0" marL="0" marR="0" rtl="0" algn="l">
              <a:lnSpc>
                <a:spcPct val="170000"/>
              </a:lnSpc>
              <a:spcBef>
                <a:spcPts val="0"/>
              </a:spcBef>
              <a:spcAft>
                <a:spcPts val="0"/>
              </a:spcAft>
              <a:buNone/>
            </a:pPr>
            <a:r>
              <a:rPr b="0" lang="ko-KR" sz="1500">
                <a:solidFill>
                  <a:srgbClr val="6B7A90"/>
                </a:solidFill>
                <a:latin typeface="Arial"/>
                <a:ea typeface="Arial"/>
                <a:cs typeface="Arial"/>
                <a:sym typeface="Arial"/>
              </a:rPr>
              <a:t>· 색약 대비: 색 + 글자(왼검·오검) 이중 표기</a:t>
            </a:r>
            <a:endParaRPr/>
          </a:p>
        </p:txBody>
      </p:sp>
      <p:sp>
        <p:nvSpPr>
          <p:cNvPr id="139" name="Google Shape;139;p7"/>
          <p:cNvSpPr/>
          <p:nvPr/>
        </p:nvSpPr>
        <p:spPr>
          <a:xfrm>
            <a:off x="5760720" y="4206240"/>
            <a:ext cx="5760720" cy="1417320"/>
          </a:xfrm>
          <a:prstGeom prst="roundRect">
            <a:avLst>
              <a:gd fmla="val 6000" name="adj"/>
            </a:avLst>
          </a:prstGeom>
          <a:solidFill>
            <a:srgbClr val="E8F1FE"/>
          </a:solidFill>
          <a:ln cap="flat" cmpd="sng" w="25400">
            <a:solidFill>
              <a:srgbClr val="1F6FEB"/>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1800">
                <a:solidFill>
                  <a:srgbClr val="12203A"/>
                </a:solidFill>
                <a:latin typeface="Arial"/>
                <a:ea typeface="Arial"/>
                <a:cs typeface="Arial"/>
                <a:sym typeface="Arial"/>
              </a:rPr>
              <a:t>이미 완성 · 인터넷에 공개 배포</a:t>
            </a:r>
            <a:endParaRPr/>
          </a:p>
          <a:p>
            <a:pPr indent="0" lvl="0" marL="0" marR="0" rtl="0" algn="ctr">
              <a:lnSpc>
                <a:spcPct val="120000"/>
              </a:lnSpc>
              <a:spcBef>
                <a:spcPts val="0"/>
              </a:spcBef>
              <a:spcAft>
                <a:spcPts val="0"/>
              </a:spcAft>
              <a:buNone/>
            </a:pPr>
            <a:r>
              <a:t/>
            </a:r>
            <a:endParaRPr b="1" sz="1800">
              <a:solidFill>
                <a:srgbClr val="12203A"/>
              </a:solidFill>
              <a:latin typeface="Arial"/>
              <a:ea typeface="Arial"/>
              <a:cs typeface="Arial"/>
              <a:sym typeface="Arial"/>
            </a:endParaRPr>
          </a:p>
          <a:p>
            <a:pPr indent="0" lvl="0" marL="0" marR="0" rtl="0" algn="ctr">
              <a:lnSpc>
                <a:spcPct val="120000"/>
              </a:lnSpc>
              <a:spcBef>
                <a:spcPts val="0"/>
              </a:spcBef>
              <a:spcAft>
                <a:spcPts val="0"/>
              </a:spcAft>
              <a:buNone/>
            </a:pPr>
            <a:r>
              <a:rPr b="1" lang="ko-KR" sz="1800">
                <a:solidFill>
                  <a:srgbClr val="12203A"/>
                </a:solidFill>
                <a:latin typeface="Arial"/>
                <a:ea typeface="Arial"/>
                <a:cs typeface="Arial"/>
                <a:sym typeface="Arial"/>
              </a:rPr>
              <a:t>크롬에서 지금 바로 체험 가능</a:t>
            </a:r>
            <a:endParaRPr/>
          </a:p>
        </p:txBody>
      </p:sp>
      <p:sp>
        <p:nvSpPr>
          <p:cNvPr id="140" name="Google Shape;140;p7"/>
          <p:cNvSpPr txBox="1"/>
          <p:nvPr/>
        </p:nvSpPr>
        <p:spPr>
          <a:xfrm>
            <a:off x="713232" y="5760720"/>
            <a:ext cx="107899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1F6FEB"/>
                </a:solidFill>
                <a:latin typeface="Arial"/>
                <a:ea typeface="Arial"/>
                <a:cs typeface="Arial"/>
                <a:sym typeface="Arial"/>
              </a:rPr>
              <a:t>typo-game-site.vercel.app   —   설치 없이 브라우저에서 바로 실행</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46" name="Google Shape;146;p8"/>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03. 핵심 구현</a:t>
            </a:r>
            <a:endParaRPr/>
          </a:p>
        </p:txBody>
      </p:sp>
      <p:sp>
        <p:nvSpPr>
          <p:cNvPr id="147" name="Google Shape;147;p8"/>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매트릭스 스캔 — 손가락을 '가로줄'로 쓴다</a:t>
            </a:r>
            <a:endParaRPr/>
          </a:p>
        </p:txBody>
      </p:sp>
      <p:sp>
        <p:nvSpPr>
          <p:cNvPr id="148" name="Google Shape;148;p8"/>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8 / 14</a:t>
            </a:r>
            <a:endParaRPr/>
          </a:p>
        </p:txBody>
      </p:sp>
      <p:sp>
        <p:nvSpPr>
          <p:cNvPr id="149" name="Google Shape;149;p8"/>
          <p:cNvSpPr/>
          <p:nvPr/>
        </p:nvSpPr>
        <p:spPr>
          <a:xfrm>
            <a:off x="685800" y="1645920"/>
            <a:ext cx="4754880" cy="329184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50" name="Google Shape;150;p8"/>
          <p:cNvSpPr txBox="1"/>
          <p:nvPr/>
        </p:nvSpPr>
        <p:spPr>
          <a:xfrm>
            <a:off x="932688" y="1828800"/>
            <a:ext cx="4297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500">
                <a:solidFill>
                  <a:srgbClr val="032994"/>
                </a:solidFill>
                <a:latin typeface="Arial"/>
                <a:ea typeface="Arial"/>
                <a:cs typeface="Arial"/>
                <a:sym typeface="Arial"/>
              </a:rPr>
              <a:t>손가락 = ROW  ×  키 구역 = COL</a:t>
            </a:r>
            <a:endParaRPr/>
          </a:p>
        </p:txBody>
      </p:sp>
      <p:sp>
        <p:nvSpPr>
          <p:cNvPr id="151" name="Google Shape;151;p8"/>
          <p:cNvSpPr txBox="1"/>
          <p:nvPr/>
        </p:nvSpPr>
        <p:spPr>
          <a:xfrm>
            <a:off x="978408" y="2331720"/>
            <a:ext cx="13716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200">
                <a:solidFill>
                  <a:srgbClr val="6B7A90"/>
                </a:solidFill>
                <a:latin typeface="Arial"/>
                <a:ea typeface="Arial"/>
                <a:cs typeface="Arial"/>
                <a:sym typeface="Arial"/>
              </a:rPr>
              <a:t>왼손 새끼</a:t>
            </a:r>
            <a:endParaRPr/>
          </a:p>
        </p:txBody>
      </p:sp>
      <p:sp>
        <p:nvSpPr>
          <p:cNvPr id="152" name="Google Shape;152;p8"/>
          <p:cNvSpPr/>
          <p:nvPr/>
        </p:nvSpPr>
        <p:spPr>
          <a:xfrm>
            <a:off x="2441448" y="235000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53" name="Google Shape;153;p8"/>
          <p:cNvSpPr/>
          <p:nvPr/>
        </p:nvSpPr>
        <p:spPr>
          <a:xfrm>
            <a:off x="3154680" y="235000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54" name="Google Shape;154;p8"/>
          <p:cNvSpPr/>
          <p:nvPr/>
        </p:nvSpPr>
        <p:spPr>
          <a:xfrm>
            <a:off x="3867912" y="235000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55" name="Google Shape;155;p8"/>
          <p:cNvSpPr/>
          <p:nvPr/>
        </p:nvSpPr>
        <p:spPr>
          <a:xfrm>
            <a:off x="4581144" y="235000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56" name="Google Shape;156;p8"/>
          <p:cNvSpPr txBox="1"/>
          <p:nvPr/>
        </p:nvSpPr>
        <p:spPr>
          <a:xfrm>
            <a:off x="978408" y="2880360"/>
            <a:ext cx="13716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200">
                <a:solidFill>
                  <a:srgbClr val="6B7A90"/>
                </a:solidFill>
                <a:latin typeface="Arial"/>
                <a:ea typeface="Arial"/>
                <a:cs typeface="Arial"/>
                <a:sym typeface="Arial"/>
              </a:rPr>
              <a:t>왼손 약지</a:t>
            </a:r>
            <a:endParaRPr/>
          </a:p>
        </p:txBody>
      </p:sp>
      <p:sp>
        <p:nvSpPr>
          <p:cNvPr id="157" name="Google Shape;157;p8"/>
          <p:cNvSpPr/>
          <p:nvPr/>
        </p:nvSpPr>
        <p:spPr>
          <a:xfrm>
            <a:off x="2441448" y="289864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58" name="Google Shape;158;p8"/>
          <p:cNvSpPr/>
          <p:nvPr/>
        </p:nvSpPr>
        <p:spPr>
          <a:xfrm>
            <a:off x="3154680" y="289864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59" name="Google Shape;159;p8"/>
          <p:cNvSpPr/>
          <p:nvPr/>
        </p:nvSpPr>
        <p:spPr>
          <a:xfrm>
            <a:off x="3867912" y="289864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60" name="Google Shape;160;p8"/>
          <p:cNvSpPr/>
          <p:nvPr/>
        </p:nvSpPr>
        <p:spPr>
          <a:xfrm>
            <a:off x="4581144" y="289864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61" name="Google Shape;161;p8"/>
          <p:cNvSpPr txBox="1"/>
          <p:nvPr/>
        </p:nvSpPr>
        <p:spPr>
          <a:xfrm>
            <a:off x="978408" y="3429000"/>
            <a:ext cx="13716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200">
                <a:solidFill>
                  <a:srgbClr val="6B7A90"/>
                </a:solidFill>
                <a:latin typeface="Arial"/>
                <a:ea typeface="Arial"/>
                <a:cs typeface="Arial"/>
                <a:sym typeface="Arial"/>
              </a:rPr>
              <a:t>왼손 중지</a:t>
            </a:r>
            <a:endParaRPr/>
          </a:p>
        </p:txBody>
      </p:sp>
      <p:sp>
        <p:nvSpPr>
          <p:cNvPr id="162" name="Google Shape;162;p8"/>
          <p:cNvSpPr/>
          <p:nvPr/>
        </p:nvSpPr>
        <p:spPr>
          <a:xfrm>
            <a:off x="2441448" y="344728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63" name="Google Shape;163;p8"/>
          <p:cNvSpPr/>
          <p:nvPr/>
        </p:nvSpPr>
        <p:spPr>
          <a:xfrm>
            <a:off x="3154680" y="344728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64" name="Google Shape;164;p8"/>
          <p:cNvSpPr/>
          <p:nvPr/>
        </p:nvSpPr>
        <p:spPr>
          <a:xfrm>
            <a:off x="3867912" y="344728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65" name="Google Shape;165;p8"/>
          <p:cNvSpPr/>
          <p:nvPr/>
        </p:nvSpPr>
        <p:spPr>
          <a:xfrm>
            <a:off x="4581144" y="3447288"/>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66" name="Google Shape;166;p8"/>
          <p:cNvSpPr txBox="1"/>
          <p:nvPr/>
        </p:nvSpPr>
        <p:spPr>
          <a:xfrm>
            <a:off x="978408" y="3977639"/>
            <a:ext cx="13716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200">
                <a:solidFill>
                  <a:srgbClr val="6B7A90"/>
                </a:solidFill>
                <a:latin typeface="Arial"/>
                <a:ea typeface="Arial"/>
                <a:cs typeface="Arial"/>
                <a:sym typeface="Arial"/>
              </a:rPr>
              <a:t>왼손 검지</a:t>
            </a:r>
            <a:endParaRPr/>
          </a:p>
        </p:txBody>
      </p:sp>
      <p:sp>
        <p:nvSpPr>
          <p:cNvPr id="167" name="Google Shape;167;p8"/>
          <p:cNvSpPr/>
          <p:nvPr/>
        </p:nvSpPr>
        <p:spPr>
          <a:xfrm>
            <a:off x="2441448" y="3995927"/>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68" name="Google Shape;168;p8"/>
          <p:cNvSpPr/>
          <p:nvPr/>
        </p:nvSpPr>
        <p:spPr>
          <a:xfrm>
            <a:off x="3154680" y="3995927"/>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69" name="Google Shape;169;p8"/>
          <p:cNvSpPr/>
          <p:nvPr/>
        </p:nvSpPr>
        <p:spPr>
          <a:xfrm>
            <a:off x="3867912" y="3995927"/>
            <a:ext cx="566928" cy="365760"/>
          </a:xfrm>
          <a:prstGeom prst="roundRect">
            <a:avLst>
              <a:gd fmla="val 6000" name="adj"/>
            </a:avLst>
          </a:prstGeom>
          <a:solidFill>
            <a:srgbClr val="16A34A"/>
          </a:solidFill>
          <a:ln cap="flat" cmpd="sng" w="15875">
            <a:solidFill>
              <a:srgbClr val="16A34A"/>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900">
                <a:solidFill>
                  <a:srgbClr val="FFFFFF"/>
                </a:solidFill>
                <a:latin typeface="Arial"/>
                <a:ea typeface="Arial"/>
                <a:cs typeface="Arial"/>
                <a:sym typeface="Arial"/>
              </a:rPr>
              <a:t>ON</a:t>
            </a:r>
            <a:endParaRPr/>
          </a:p>
        </p:txBody>
      </p:sp>
      <p:sp>
        <p:nvSpPr>
          <p:cNvPr id="170" name="Google Shape;170;p8"/>
          <p:cNvSpPr/>
          <p:nvPr/>
        </p:nvSpPr>
        <p:spPr>
          <a:xfrm>
            <a:off x="4581144" y="3995927"/>
            <a:ext cx="566928" cy="36576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71" name="Google Shape;171;p8"/>
          <p:cNvSpPr txBox="1"/>
          <p:nvPr/>
        </p:nvSpPr>
        <p:spPr>
          <a:xfrm>
            <a:off x="2441448" y="4572000"/>
            <a:ext cx="29260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000">
                <a:solidFill>
                  <a:srgbClr val="6B7A90"/>
                </a:solidFill>
                <a:latin typeface="Arial"/>
                <a:ea typeface="Arial"/>
                <a:cs typeface="Arial"/>
                <a:sym typeface="Arial"/>
              </a:rPr>
              <a:t>Q/A/Z  W/S/X  E/D/C  R/F/V</a:t>
            </a:r>
            <a:endParaRPr/>
          </a:p>
        </p:txBody>
      </p:sp>
      <p:sp>
        <p:nvSpPr>
          <p:cNvPr id="172" name="Google Shape;172;p8"/>
          <p:cNvSpPr txBox="1"/>
          <p:nvPr/>
        </p:nvSpPr>
        <p:spPr>
          <a:xfrm>
            <a:off x="932688" y="4590288"/>
            <a:ext cx="14630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200">
                <a:solidFill>
                  <a:srgbClr val="12203A"/>
                </a:solidFill>
                <a:latin typeface="Arial"/>
                <a:ea typeface="Arial"/>
                <a:cs typeface="Arial"/>
                <a:sym typeface="Arial"/>
              </a:rPr>
              <a:t>→ 교차점 하나</a:t>
            </a:r>
            <a:endParaRPr/>
          </a:p>
        </p:txBody>
      </p:sp>
      <p:sp>
        <p:nvSpPr>
          <p:cNvPr id="173" name="Google Shape;173;p8"/>
          <p:cNvSpPr/>
          <p:nvPr/>
        </p:nvSpPr>
        <p:spPr>
          <a:xfrm>
            <a:off x="5669280" y="1645920"/>
            <a:ext cx="5852160" cy="3291840"/>
          </a:xfrm>
          <a:prstGeom prst="roundRect">
            <a:avLst>
              <a:gd fmla="val 6000" name="adj"/>
            </a:avLst>
          </a:prstGeom>
          <a:solidFill>
            <a:srgbClr val="0F1B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74" name="Google Shape;174;p8"/>
          <p:cNvSpPr txBox="1"/>
          <p:nvPr/>
        </p:nvSpPr>
        <p:spPr>
          <a:xfrm>
            <a:off x="5897880" y="1792224"/>
            <a:ext cx="5394960" cy="27432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100">
                <a:solidFill>
                  <a:srgbClr val="8FB4F5"/>
                </a:solidFill>
                <a:latin typeface="Arial"/>
                <a:ea typeface="Arial"/>
                <a:cs typeface="Arial"/>
                <a:sym typeface="Arial"/>
              </a:rPr>
              <a:t>finger_guide.ino — 실제 코드</a:t>
            </a:r>
            <a:endParaRPr/>
          </a:p>
        </p:txBody>
      </p:sp>
      <p:sp>
        <p:nvSpPr>
          <p:cNvPr id="175" name="Google Shape;175;p8"/>
          <p:cNvSpPr txBox="1"/>
          <p:nvPr/>
        </p:nvSpPr>
        <p:spPr>
          <a:xfrm>
            <a:off x="5897880" y="2139696"/>
            <a:ext cx="5486400" cy="2660904"/>
          </a:xfrm>
          <a:prstGeom prst="rect">
            <a:avLst/>
          </a:prstGeom>
          <a:noFill/>
          <a:ln>
            <a:noFill/>
          </a:ln>
        </p:spPr>
        <p:txBody>
          <a:bodyPr anchorCtr="0" anchor="t" bIns="45700" lIns="91425" spcFirstLastPara="1" rIns="91425" wrap="square" tIns="45700">
            <a:spAutoFit/>
          </a:bodyPr>
          <a:lstStyle/>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void scanMatrix() {</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for (int r = 0; r &lt; 8; r++) {        </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digitalWrite(rowPins[r], HIGH);    // 이 손가락 줄만 켠다</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for (int c = 0; c &lt; 6; c++) {</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bool now = digitalRead(colPins[c]);</a:t>
            </a:r>
            <a:endParaRPr/>
          </a:p>
          <a:p>
            <a:pPr indent="0" lvl="0" marL="0" marR="0" rtl="0" algn="l">
              <a:lnSpc>
                <a:spcPct val="122000"/>
              </a:lnSpc>
              <a:spcBef>
                <a:spcPts val="0"/>
              </a:spcBef>
              <a:spcAft>
                <a:spcPts val="0"/>
              </a:spcAft>
              <a:buNone/>
            </a:pPr>
            <a:r>
              <a:rPr b="0" lang="ko-KR" sz="1100">
                <a:solidFill>
                  <a:srgbClr val="7694B8"/>
                </a:solidFill>
                <a:latin typeface="Arial"/>
                <a:ea typeface="Arial"/>
                <a:cs typeface="Arial"/>
                <a:sym typeface="Arial"/>
              </a:rPr>
              <a:t>      if (now &amp;&amp; !last[r][c])          // 막 닿은 순간에만</a:t>
            </a:r>
            <a:endParaRPr/>
          </a:p>
          <a:p>
            <a:pPr indent="0" lvl="0" marL="0" marR="0" rtl="0" algn="l">
              <a:lnSpc>
                <a:spcPct val="122000"/>
              </a:lnSpc>
              <a:spcBef>
                <a:spcPts val="0"/>
              </a:spcBef>
              <a:spcAft>
                <a:spcPts val="0"/>
              </a:spcAft>
              <a:buNone/>
            </a:pPr>
            <a:r>
              <a:rPr b="1" lang="ko-KR" sz="1100">
                <a:solidFill>
                  <a:srgbClr val="7FD48A"/>
                </a:solidFill>
                <a:latin typeface="Arial"/>
                <a:ea typeface="Arial"/>
                <a:cs typeface="Arial"/>
                <a:sym typeface="Arial"/>
              </a:rPr>
              <a:t>        Serial.println("L2,Z4");       // 손가락,구역 전송</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last[r][c] = now;</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digitalWrite(rowPins[r], LOW);     // 끄고 다음 손가락</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a:t>
            </a:r>
            <a:endParaRPr/>
          </a:p>
        </p:txBody>
      </p:sp>
      <p:sp>
        <p:nvSpPr>
          <p:cNvPr id="176" name="Google Shape;176;p8"/>
          <p:cNvSpPr/>
          <p:nvPr/>
        </p:nvSpPr>
        <p:spPr>
          <a:xfrm>
            <a:off x="685800" y="5166360"/>
            <a:ext cx="10835640" cy="685800"/>
          </a:xfrm>
          <a:prstGeom prst="roundRect">
            <a:avLst>
              <a:gd fmla="val 6000" name="adj"/>
            </a:avLst>
          </a:prstGeom>
          <a:solidFill>
            <a:srgbClr val="E8F1FE"/>
          </a:solidFill>
          <a:ln cap="flat" cmpd="sng" w="15875">
            <a:solidFill>
              <a:srgbClr val="1F6FEB"/>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1500">
                <a:solidFill>
                  <a:srgbClr val="12203A"/>
                </a:solidFill>
                <a:latin typeface="Arial"/>
                <a:ea typeface="Arial"/>
                <a:cs typeface="Arial"/>
                <a:sym typeface="Arial"/>
              </a:rPr>
              <a:t>'막 닿은 순간(LOW→HIGH)에만 1번 전송' — 같은 접촉이 계속 쏟아지는 문제를 이렇게 막았습니다</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82" name="Google Shape;182;p9"/>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03. 핵심 구현</a:t>
            </a:r>
            <a:endParaRPr/>
          </a:p>
        </p:txBody>
      </p:sp>
      <p:sp>
        <p:nvSpPr>
          <p:cNvPr id="183" name="Google Shape;183;p9"/>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가장 어려웠던 문제 — 두 신호를 어떻게 합칠까?</a:t>
            </a:r>
            <a:endParaRPr/>
          </a:p>
        </p:txBody>
      </p:sp>
      <p:sp>
        <p:nvSpPr>
          <p:cNvPr id="184" name="Google Shape;184;p9"/>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9 / 14</a:t>
            </a:r>
            <a:endParaRPr/>
          </a:p>
        </p:txBody>
      </p:sp>
      <p:sp>
        <p:nvSpPr>
          <p:cNvPr id="185" name="Google Shape;185;p9"/>
          <p:cNvSpPr/>
          <p:nvPr/>
        </p:nvSpPr>
        <p:spPr>
          <a:xfrm>
            <a:off x="685800" y="1572768"/>
            <a:ext cx="10835640" cy="621792"/>
          </a:xfrm>
          <a:prstGeom prst="roundRect">
            <a:avLst>
              <a:gd fmla="val 6000" name="adj"/>
            </a:avLst>
          </a:prstGeom>
          <a:solidFill>
            <a:srgbClr val="FDECEC"/>
          </a:solidFill>
          <a:ln cap="flat" cmpd="sng" w="15875">
            <a:solidFill>
              <a:srgbClr val="E23D3D"/>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1500">
                <a:solidFill>
                  <a:srgbClr val="12203A"/>
                </a:solidFill>
                <a:latin typeface="Arial"/>
                <a:ea typeface="Arial"/>
                <a:cs typeface="Arial"/>
                <a:sym typeface="Arial"/>
              </a:rPr>
              <a:t>문제:  키보드 입력과 아두이노 신호는 서로 다른 통로로 '따로' 도착한다 → 어느 타건의 손가락인지 모른다</a:t>
            </a:r>
            <a:endParaRPr/>
          </a:p>
        </p:txBody>
      </p:sp>
      <p:sp>
        <p:nvSpPr>
          <p:cNvPr id="186" name="Google Shape;186;p9"/>
          <p:cNvSpPr/>
          <p:nvPr/>
        </p:nvSpPr>
        <p:spPr>
          <a:xfrm>
            <a:off x="685800" y="2377440"/>
            <a:ext cx="6720840" cy="3154680"/>
          </a:xfrm>
          <a:prstGeom prst="roundRect">
            <a:avLst>
              <a:gd fmla="val 6000" name="adj"/>
            </a:avLst>
          </a:prstGeom>
          <a:solidFill>
            <a:srgbClr val="0F1B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87" name="Google Shape;187;p9"/>
          <p:cNvSpPr txBox="1"/>
          <p:nvPr/>
        </p:nvSpPr>
        <p:spPr>
          <a:xfrm>
            <a:off x="914400" y="2523744"/>
            <a:ext cx="62636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100">
                <a:solidFill>
                  <a:srgbClr val="8FB4F5"/>
                </a:solidFill>
                <a:latin typeface="Arial"/>
                <a:ea typeface="Arial"/>
                <a:cs typeface="Arial"/>
                <a:sym typeface="Arial"/>
              </a:rPr>
              <a:t>app.js — 운지 판정 로직</a:t>
            </a:r>
            <a:endParaRPr/>
          </a:p>
        </p:txBody>
      </p:sp>
      <p:sp>
        <p:nvSpPr>
          <p:cNvPr id="188" name="Google Shape;188;p9"/>
          <p:cNvSpPr txBox="1"/>
          <p:nvPr/>
        </p:nvSpPr>
        <p:spPr>
          <a:xfrm>
            <a:off x="914400" y="2871216"/>
            <a:ext cx="6355079" cy="2523744"/>
          </a:xfrm>
          <a:prstGeom prst="rect">
            <a:avLst/>
          </a:prstGeom>
          <a:noFill/>
          <a:ln>
            <a:noFill/>
          </a:ln>
        </p:spPr>
        <p:txBody>
          <a:bodyPr anchorCtr="0" anchor="t" bIns="45700" lIns="91425" spcFirstLastPara="1" rIns="91425" wrap="square" tIns="45700">
            <a:spAutoFit/>
          </a:bodyPr>
          <a:lstStyle/>
          <a:p>
            <a:pPr indent="0" lvl="0" marL="0" marR="0" rtl="0" algn="l">
              <a:lnSpc>
                <a:spcPct val="122000"/>
              </a:lnSpc>
              <a:spcBef>
                <a:spcPts val="0"/>
              </a:spcBef>
              <a:spcAft>
                <a:spcPts val="0"/>
              </a:spcAft>
              <a:buNone/>
            </a:pPr>
            <a:r>
              <a:rPr b="0" lang="ko-KR" sz="1100">
                <a:solidFill>
                  <a:srgbClr val="7694B8"/>
                </a:solidFill>
                <a:latin typeface="Arial"/>
                <a:ea typeface="Arial"/>
                <a:cs typeface="Arial"/>
                <a:sym typeface="Arial"/>
              </a:rPr>
              <a:t>// 1. 운지표를 뒤집어 '글자 → 쳐야 할 손가락' 표를 미리 만든다</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FINGER_OF['f'] === 'L2'                 // f 는 왼손 검지</a:t>
            </a:r>
            <a:endParaRPr/>
          </a:p>
          <a:p>
            <a:pPr indent="0" lvl="0" marL="0" marR="0" rtl="0" algn="l">
              <a:lnSpc>
                <a:spcPct val="122000"/>
              </a:lnSpc>
              <a:spcBef>
                <a:spcPts val="0"/>
              </a:spcBef>
              <a:spcAft>
                <a:spcPts val="0"/>
              </a:spcAft>
              <a:buNone/>
            </a:pPr>
            <a:r>
              <a:rPr b="0" lang="ko-KR" sz="1100">
                <a:solidFill>
                  <a:srgbClr val="7694B8"/>
                </a:solidFill>
                <a:latin typeface="Arial"/>
                <a:ea typeface="Arial"/>
                <a:cs typeface="Arial"/>
                <a:sym typeface="Arial"/>
              </a:rPr>
              <a:t>// 2. 아두이노가 손가락을 보내면 '시각'과 함께 기억해 둔다</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serial.onFinger(id =&gt; {</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lastFinger = id;  t = now();</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a:t>
            </a:r>
            <a:endParaRPr/>
          </a:p>
          <a:p>
            <a:pPr indent="0" lvl="0" marL="0" marR="0" rtl="0" algn="l">
              <a:lnSpc>
                <a:spcPct val="122000"/>
              </a:lnSpc>
              <a:spcBef>
                <a:spcPts val="0"/>
              </a:spcBef>
              <a:spcAft>
                <a:spcPts val="0"/>
              </a:spcAft>
              <a:buNone/>
            </a:pPr>
            <a:r>
              <a:rPr b="0" lang="ko-KR" sz="1100">
                <a:solidFill>
                  <a:srgbClr val="7694B8"/>
                </a:solidFill>
                <a:latin typeface="Arial"/>
                <a:ea typeface="Arial"/>
                <a:cs typeface="Arial"/>
                <a:sym typeface="Arial"/>
              </a:rPr>
              <a:t>// 3. 키를 누른 순간 — 0.6초 안의 신호만 같은 타건으로 묶는다</a:t>
            </a:r>
            <a:endParaRPr/>
          </a:p>
          <a:p>
            <a:pPr indent="0" lvl="0" marL="0" marR="0" rtl="0" algn="l">
              <a:lnSpc>
                <a:spcPct val="122000"/>
              </a:lnSpc>
              <a:spcBef>
                <a:spcPts val="0"/>
              </a:spcBef>
              <a:spcAft>
                <a:spcPts val="0"/>
              </a:spcAft>
              <a:buNone/>
            </a:pPr>
            <a:r>
              <a:rPr b="1" lang="ko-KR" sz="1100">
                <a:solidFill>
                  <a:srgbClr val="7FD48A"/>
                </a:solidFill>
                <a:latin typeface="Arial"/>
                <a:ea typeface="Arial"/>
                <a:cs typeface="Arial"/>
                <a:sym typeface="Arial"/>
              </a:rPr>
              <a:t>if (need &amp;&amp; lastFinger &amp;&amp; now() - t &lt; 600) {</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fingerOK = (lastFinger === need);</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serial.send(fingerOK ? 'G' : 'R');    // LED·부저 피드백</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  if (fingerOK) fingerCorrect++;        // 운지율 집계</a:t>
            </a:r>
            <a:endParaRPr/>
          </a:p>
          <a:p>
            <a:pPr indent="0" lvl="0" marL="0" marR="0" rtl="0" algn="l">
              <a:lnSpc>
                <a:spcPct val="122000"/>
              </a:lnSpc>
              <a:spcBef>
                <a:spcPts val="0"/>
              </a:spcBef>
              <a:spcAft>
                <a:spcPts val="0"/>
              </a:spcAft>
              <a:buNone/>
            </a:pPr>
            <a:r>
              <a:rPr b="0" lang="ko-KR" sz="1100">
                <a:solidFill>
                  <a:srgbClr val="D6E2F2"/>
                </a:solidFill>
                <a:latin typeface="Arial"/>
                <a:ea typeface="Arial"/>
                <a:cs typeface="Arial"/>
                <a:sym typeface="Arial"/>
              </a:rPr>
              <a:t>}</a:t>
            </a:r>
            <a:endParaRPr/>
          </a:p>
        </p:txBody>
      </p:sp>
      <p:sp>
        <p:nvSpPr>
          <p:cNvPr id="189" name="Google Shape;189;p9"/>
          <p:cNvSpPr/>
          <p:nvPr/>
        </p:nvSpPr>
        <p:spPr>
          <a:xfrm>
            <a:off x="7818120" y="2377440"/>
            <a:ext cx="3703320" cy="315468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90" name="Google Shape;190;p9"/>
          <p:cNvSpPr txBox="1"/>
          <p:nvPr/>
        </p:nvSpPr>
        <p:spPr>
          <a:xfrm>
            <a:off x="8074152" y="2560320"/>
            <a:ext cx="3200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500">
                <a:solidFill>
                  <a:srgbClr val="032994"/>
                </a:solidFill>
                <a:latin typeface="Arial"/>
                <a:ea typeface="Arial"/>
                <a:cs typeface="Arial"/>
                <a:sym typeface="Arial"/>
              </a:rPr>
              <a:t>해결 — 0.6초 매칭 윈도우</a:t>
            </a:r>
            <a:endParaRPr/>
          </a:p>
        </p:txBody>
      </p:sp>
      <p:sp>
        <p:nvSpPr>
          <p:cNvPr id="191" name="Google Shape;191;p9"/>
          <p:cNvSpPr txBox="1"/>
          <p:nvPr/>
        </p:nvSpPr>
        <p:spPr>
          <a:xfrm>
            <a:off x="8074152" y="3035808"/>
            <a:ext cx="3200400" cy="22860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b="0" lang="ko-KR" sz="1300">
                <a:solidFill>
                  <a:srgbClr val="12203A"/>
                </a:solidFill>
                <a:latin typeface="Arial"/>
                <a:ea typeface="Arial"/>
                <a:cs typeface="Arial"/>
                <a:sym typeface="Arial"/>
              </a:rPr>
              <a:t>키를 누른 시각과</a:t>
            </a:r>
            <a:endParaRPr/>
          </a:p>
          <a:p>
            <a:pPr indent="0" lvl="0" marL="0" marR="0" rtl="0" algn="l">
              <a:lnSpc>
                <a:spcPct val="140000"/>
              </a:lnSpc>
              <a:spcBef>
                <a:spcPts val="0"/>
              </a:spcBef>
              <a:spcAft>
                <a:spcPts val="0"/>
              </a:spcAft>
              <a:buNone/>
            </a:pPr>
            <a:r>
              <a:rPr b="0" lang="ko-KR" sz="1300">
                <a:solidFill>
                  <a:srgbClr val="12203A"/>
                </a:solidFill>
                <a:latin typeface="Arial"/>
                <a:ea typeface="Arial"/>
                <a:cs typeface="Arial"/>
                <a:sym typeface="Arial"/>
              </a:rPr>
              <a:t>손가락 신호가 온 시각이</a:t>
            </a:r>
            <a:endParaRPr/>
          </a:p>
          <a:p>
            <a:pPr indent="0" lvl="0" marL="0" marR="0" rtl="0" algn="l">
              <a:lnSpc>
                <a:spcPct val="140000"/>
              </a:lnSpc>
              <a:spcBef>
                <a:spcPts val="0"/>
              </a:spcBef>
              <a:spcAft>
                <a:spcPts val="0"/>
              </a:spcAft>
              <a:buNone/>
            </a:pPr>
            <a:r>
              <a:rPr b="0" lang="ko-KR" sz="1300">
                <a:solidFill>
                  <a:srgbClr val="12203A"/>
                </a:solidFill>
                <a:latin typeface="Arial"/>
                <a:ea typeface="Arial"/>
                <a:cs typeface="Arial"/>
                <a:sym typeface="Arial"/>
              </a:rPr>
              <a:t>0.6초 안이면 같은 타건.</a:t>
            </a:r>
            <a:endParaRPr/>
          </a:p>
          <a:p>
            <a:pPr indent="0" lvl="0" marL="0" marR="0" rtl="0" algn="l">
              <a:lnSpc>
                <a:spcPct val="140000"/>
              </a:lnSpc>
              <a:spcBef>
                <a:spcPts val="0"/>
              </a:spcBef>
              <a:spcAft>
                <a:spcPts val="0"/>
              </a:spcAft>
              <a:buNone/>
            </a:pPr>
            <a:r>
              <a:t/>
            </a:r>
            <a:endParaRPr b="0" sz="1300">
              <a:solidFill>
                <a:srgbClr val="12203A"/>
              </a:solidFill>
              <a:latin typeface="Arial"/>
              <a:ea typeface="Arial"/>
              <a:cs typeface="Arial"/>
              <a:sym typeface="Arial"/>
            </a:endParaRPr>
          </a:p>
          <a:p>
            <a:pPr indent="0" lvl="0" marL="0" marR="0" rtl="0" algn="l">
              <a:lnSpc>
                <a:spcPct val="140000"/>
              </a:lnSpc>
              <a:spcBef>
                <a:spcPts val="0"/>
              </a:spcBef>
              <a:spcAft>
                <a:spcPts val="0"/>
              </a:spcAft>
              <a:buNone/>
            </a:pPr>
            <a:r>
              <a:rPr b="0" lang="ko-KR" sz="1300">
                <a:solidFill>
                  <a:srgbClr val="12203A"/>
                </a:solidFill>
                <a:latin typeface="Arial"/>
                <a:ea typeface="Arial"/>
                <a:cs typeface="Arial"/>
                <a:sym typeface="Arial"/>
              </a:rPr>
              <a:t>너무 짧으면 놓치고,</a:t>
            </a:r>
            <a:endParaRPr/>
          </a:p>
          <a:p>
            <a:pPr indent="0" lvl="0" marL="0" marR="0" rtl="0" algn="l">
              <a:lnSpc>
                <a:spcPct val="140000"/>
              </a:lnSpc>
              <a:spcBef>
                <a:spcPts val="0"/>
              </a:spcBef>
              <a:spcAft>
                <a:spcPts val="0"/>
              </a:spcAft>
              <a:buNone/>
            </a:pPr>
            <a:r>
              <a:rPr b="0" lang="ko-KR" sz="1300">
                <a:solidFill>
                  <a:srgbClr val="12203A"/>
                </a:solidFill>
                <a:latin typeface="Arial"/>
                <a:ea typeface="Arial"/>
                <a:cs typeface="Arial"/>
                <a:sym typeface="Arial"/>
              </a:rPr>
              <a:t>길면 앞 글자와 섞인다.</a:t>
            </a:r>
            <a:endParaRPr/>
          </a:p>
          <a:p>
            <a:pPr indent="0" lvl="0" marL="0" marR="0" rtl="0" algn="l">
              <a:lnSpc>
                <a:spcPct val="140000"/>
              </a:lnSpc>
              <a:spcBef>
                <a:spcPts val="0"/>
              </a:spcBef>
              <a:spcAft>
                <a:spcPts val="0"/>
              </a:spcAft>
              <a:buNone/>
            </a:pPr>
            <a:r>
              <a:rPr b="0" lang="ko-KR" sz="1300">
                <a:solidFill>
                  <a:srgbClr val="12203A"/>
                </a:solidFill>
                <a:latin typeface="Arial"/>
                <a:ea typeface="Arial"/>
                <a:cs typeface="Arial"/>
                <a:sym typeface="Arial"/>
              </a:rPr>
              <a:t>→ 실험으로 0.6초 결정</a:t>
            </a:r>
            <a:endParaRPr/>
          </a:p>
        </p:txBody>
      </p:sp>
      <p:sp>
        <p:nvSpPr>
          <p:cNvPr id="192" name="Google Shape;192;p9"/>
          <p:cNvSpPr txBox="1"/>
          <p:nvPr/>
        </p:nvSpPr>
        <p:spPr>
          <a:xfrm>
            <a:off x="713232" y="5669280"/>
            <a:ext cx="107899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6B7A90"/>
                </a:solidFill>
                <a:latin typeface="Arial"/>
                <a:ea typeface="Arial"/>
                <a:cs typeface="Arial"/>
                <a:sym typeface="Arial"/>
              </a:rPr>
              <a:t>아두이노가 없어도 '데모 모드'로 손가락 신호를 시뮬레이션해 앱 전체를 시연할 수 있게 만들었습니다</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0"/>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98" name="Google Shape;198;p10"/>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03. 핵심 구현</a:t>
            </a:r>
            <a:endParaRPr/>
          </a:p>
        </p:txBody>
      </p:sp>
      <p:sp>
        <p:nvSpPr>
          <p:cNvPr id="199" name="Google Shape;199;p10"/>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무엇으로, 어떻게 만들었나</a:t>
            </a:r>
            <a:endParaRPr/>
          </a:p>
        </p:txBody>
      </p:sp>
      <p:sp>
        <p:nvSpPr>
          <p:cNvPr id="200" name="Google Shape;200;p10"/>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10 / 14</a:t>
            </a:r>
            <a:endParaRPr/>
          </a:p>
        </p:txBody>
      </p:sp>
      <p:sp>
        <p:nvSpPr>
          <p:cNvPr id="201" name="Google Shape;201;p10"/>
          <p:cNvSpPr/>
          <p:nvPr/>
        </p:nvSpPr>
        <p:spPr>
          <a:xfrm>
            <a:off x="685800" y="1645920"/>
            <a:ext cx="3200400" cy="379476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02" name="Google Shape;202;p10"/>
          <p:cNvSpPr txBox="1"/>
          <p:nvPr/>
        </p:nvSpPr>
        <p:spPr>
          <a:xfrm>
            <a:off x="932688" y="1828800"/>
            <a:ext cx="27432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700">
                <a:solidFill>
                  <a:srgbClr val="032994"/>
                </a:solidFill>
                <a:latin typeface="Arial"/>
                <a:ea typeface="Arial"/>
                <a:cs typeface="Arial"/>
                <a:sym typeface="Arial"/>
              </a:rPr>
              <a:t>하드웨어</a:t>
            </a:r>
            <a:endParaRPr/>
          </a:p>
        </p:txBody>
      </p:sp>
      <p:sp>
        <p:nvSpPr>
          <p:cNvPr id="203" name="Google Shape;203;p10"/>
          <p:cNvSpPr txBox="1"/>
          <p:nvPr/>
        </p:nvSpPr>
        <p:spPr>
          <a:xfrm>
            <a:off x="932688" y="2331720"/>
            <a:ext cx="2788920" cy="2926080"/>
          </a:xfrm>
          <a:prstGeom prst="rect">
            <a:avLst/>
          </a:prstGeom>
          <a:noFill/>
          <a:ln>
            <a:noFill/>
          </a:ln>
        </p:spPr>
        <p:txBody>
          <a:bodyPr anchorCtr="0" anchor="t" bIns="45700" lIns="91425" spcFirstLastPara="1" rIns="91425" wrap="square" tIns="45700">
            <a:spAutoFit/>
          </a:bodyPr>
          <a:lstStyle/>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아두이노 Uno</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구리 테이프 (손끝·키 패드)</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얇은 전선 8 (손가락별)</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풀다운 저항 10kΩ × 6</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LED 초록/빨강 + 피에조 부저</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면장갑 (프로토타입)</a:t>
            </a:r>
            <a:endParaRPr/>
          </a:p>
          <a:p>
            <a:pPr indent="0" lvl="0" marL="0" marR="0" rtl="0" algn="l">
              <a:lnSpc>
                <a:spcPct val="160000"/>
              </a:lnSpc>
              <a:spcBef>
                <a:spcPts val="0"/>
              </a:spcBef>
              <a:spcAft>
                <a:spcPts val="0"/>
              </a:spcAft>
              <a:buNone/>
            </a:pPr>
            <a:r>
              <a:t/>
            </a:r>
            <a:endParaRPr b="0" sz="1300">
              <a:solidFill>
                <a:srgbClr val="12203A"/>
              </a:solidFill>
              <a:latin typeface="Arial"/>
              <a:ea typeface="Arial"/>
              <a:cs typeface="Arial"/>
              <a:sym typeface="Arial"/>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부품비 약 3만 원</a:t>
            </a:r>
            <a:endParaRPr/>
          </a:p>
        </p:txBody>
      </p:sp>
      <p:sp>
        <p:nvSpPr>
          <p:cNvPr id="204" name="Google Shape;204;p10"/>
          <p:cNvSpPr/>
          <p:nvPr/>
        </p:nvSpPr>
        <p:spPr>
          <a:xfrm>
            <a:off x="4160520" y="1645920"/>
            <a:ext cx="3200400" cy="379476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05" name="Google Shape;205;p10"/>
          <p:cNvSpPr txBox="1"/>
          <p:nvPr/>
        </p:nvSpPr>
        <p:spPr>
          <a:xfrm>
            <a:off x="4407408" y="1828800"/>
            <a:ext cx="27432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700">
                <a:solidFill>
                  <a:srgbClr val="032994"/>
                </a:solidFill>
                <a:latin typeface="Arial"/>
                <a:ea typeface="Arial"/>
                <a:cs typeface="Arial"/>
                <a:sym typeface="Arial"/>
              </a:rPr>
              <a:t>소프트웨어</a:t>
            </a:r>
            <a:endParaRPr/>
          </a:p>
        </p:txBody>
      </p:sp>
      <p:sp>
        <p:nvSpPr>
          <p:cNvPr id="206" name="Google Shape;206;p10"/>
          <p:cNvSpPr txBox="1"/>
          <p:nvPr/>
        </p:nvSpPr>
        <p:spPr>
          <a:xfrm>
            <a:off x="4407408" y="2331720"/>
            <a:ext cx="2788920" cy="2926080"/>
          </a:xfrm>
          <a:prstGeom prst="rect">
            <a:avLst/>
          </a:prstGeom>
          <a:noFill/>
          <a:ln>
            <a:noFill/>
          </a:ln>
        </p:spPr>
        <p:txBody>
          <a:bodyPr anchorCtr="0" anchor="t" bIns="45700" lIns="91425" spcFirstLastPara="1" rIns="91425" wrap="square" tIns="45700">
            <a:spAutoFit/>
          </a:bodyPr>
          <a:lstStyle/>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HTML · CSS</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JavaScript (바닐라)</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Web Serial API</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SVG (손그림·그래프 직접 그림)</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localStorage (기록 저장)</a:t>
            </a:r>
            <a:endParaRPr/>
          </a:p>
          <a:p>
            <a:pPr indent="0" lvl="0" marL="0" marR="0" rtl="0" algn="l">
              <a:lnSpc>
                <a:spcPct val="160000"/>
              </a:lnSpc>
              <a:spcBef>
                <a:spcPts val="0"/>
              </a:spcBef>
              <a:spcAft>
                <a:spcPts val="0"/>
              </a:spcAft>
              <a:buNone/>
            </a:pPr>
            <a:r>
              <a:t/>
            </a:r>
            <a:endParaRPr b="0" sz="1300">
              <a:solidFill>
                <a:srgbClr val="12203A"/>
              </a:solidFill>
              <a:latin typeface="Arial"/>
              <a:ea typeface="Arial"/>
              <a:cs typeface="Arial"/>
              <a:sym typeface="Arial"/>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외부 라이브러리 0개</a:t>
            </a:r>
            <a:endParaRPr/>
          </a:p>
          <a:p>
            <a:pPr indent="0" lvl="0" marL="0" marR="0" rtl="0" algn="l">
              <a:lnSpc>
                <a:spcPct val="160000"/>
              </a:lnSpc>
              <a:spcBef>
                <a:spcPts val="0"/>
              </a:spcBef>
              <a:spcAft>
                <a:spcPts val="0"/>
              </a:spcAft>
              <a:buNone/>
            </a:pPr>
            <a:r>
              <a:rPr b="0" lang="ko-KR" sz="1300">
                <a:solidFill>
                  <a:srgbClr val="12203A"/>
                </a:solidFill>
                <a:latin typeface="Arial"/>
                <a:ea typeface="Arial"/>
                <a:cs typeface="Arial"/>
                <a:sym typeface="Arial"/>
              </a:rPr>
              <a:t>— 전부 직접 구현</a:t>
            </a:r>
            <a:endParaRPr/>
          </a:p>
        </p:txBody>
      </p:sp>
      <p:sp>
        <p:nvSpPr>
          <p:cNvPr id="207" name="Google Shape;207;p10"/>
          <p:cNvSpPr/>
          <p:nvPr/>
        </p:nvSpPr>
        <p:spPr>
          <a:xfrm>
            <a:off x="7635240" y="1645920"/>
            <a:ext cx="3886200" cy="3794760"/>
          </a:xfrm>
          <a:prstGeom prst="roundRect">
            <a:avLst>
              <a:gd fmla="val 6000" name="adj"/>
            </a:avLst>
          </a:prstGeom>
          <a:solidFill>
            <a:srgbClr val="E8F1FE"/>
          </a:solidFill>
          <a:ln cap="flat" cmpd="sng" w="25400">
            <a:solidFill>
              <a:srgbClr val="1F6F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08" name="Google Shape;208;p10"/>
          <p:cNvSpPr txBox="1"/>
          <p:nvPr/>
        </p:nvSpPr>
        <p:spPr>
          <a:xfrm>
            <a:off x="7882127" y="1828800"/>
            <a:ext cx="34747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700">
                <a:solidFill>
                  <a:srgbClr val="032994"/>
                </a:solidFill>
                <a:latin typeface="Arial"/>
                <a:ea typeface="Arial"/>
                <a:cs typeface="Arial"/>
                <a:sym typeface="Arial"/>
              </a:rPr>
              <a:t>직접 짠 코드 — 약 2,000줄</a:t>
            </a:r>
            <a:endParaRPr/>
          </a:p>
        </p:txBody>
      </p:sp>
      <p:sp>
        <p:nvSpPr>
          <p:cNvPr id="209" name="Google Shape;209;p10"/>
          <p:cNvSpPr txBox="1"/>
          <p:nvPr/>
        </p:nvSpPr>
        <p:spPr>
          <a:xfrm>
            <a:off x="7882127" y="2377440"/>
            <a:ext cx="1874519"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100">
                <a:solidFill>
                  <a:srgbClr val="12203A"/>
                </a:solidFill>
                <a:latin typeface="Arial"/>
                <a:ea typeface="Arial"/>
                <a:cs typeface="Arial"/>
                <a:sym typeface="Arial"/>
              </a:rPr>
              <a:t>config.js</a:t>
            </a:r>
            <a:endParaRPr/>
          </a:p>
        </p:txBody>
      </p:sp>
      <p:sp>
        <p:nvSpPr>
          <p:cNvPr id="210" name="Google Shape;210;p10"/>
          <p:cNvSpPr txBox="1"/>
          <p:nvPr/>
        </p:nvSpPr>
        <p:spPr>
          <a:xfrm>
            <a:off x="9802368" y="2377440"/>
            <a:ext cx="17373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100">
                <a:solidFill>
                  <a:srgbClr val="6B7A90"/>
                </a:solidFill>
                <a:latin typeface="Arial"/>
                <a:ea typeface="Arial"/>
                <a:cs typeface="Arial"/>
                <a:sym typeface="Arial"/>
              </a:rPr>
              <a:t>운지표·색·연습문장</a:t>
            </a:r>
            <a:endParaRPr/>
          </a:p>
        </p:txBody>
      </p:sp>
      <p:sp>
        <p:nvSpPr>
          <p:cNvPr id="211" name="Google Shape;211;p10"/>
          <p:cNvSpPr txBox="1"/>
          <p:nvPr/>
        </p:nvSpPr>
        <p:spPr>
          <a:xfrm>
            <a:off x="7882127" y="2798064"/>
            <a:ext cx="1874519"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100">
                <a:solidFill>
                  <a:srgbClr val="12203A"/>
                </a:solidFill>
                <a:latin typeface="Arial"/>
                <a:ea typeface="Arial"/>
                <a:cs typeface="Arial"/>
                <a:sym typeface="Arial"/>
              </a:rPr>
              <a:t>keyboard.js</a:t>
            </a:r>
            <a:endParaRPr/>
          </a:p>
        </p:txBody>
      </p:sp>
      <p:sp>
        <p:nvSpPr>
          <p:cNvPr id="212" name="Google Shape;212;p10"/>
          <p:cNvSpPr txBox="1"/>
          <p:nvPr/>
        </p:nvSpPr>
        <p:spPr>
          <a:xfrm>
            <a:off x="9802368" y="2798064"/>
            <a:ext cx="17373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100">
                <a:solidFill>
                  <a:srgbClr val="6B7A90"/>
                </a:solidFill>
                <a:latin typeface="Arial"/>
                <a:ea typeface="Arial"/>
                <a:cs typeface="Arial"/>
                <a:sym typeface="Arial"/>
              </a:rPr>
              <a:t>화면 키보드</a:t>
            </a:r>
            <a:endParaRPr/>
          </a:p>
        </p:txBody>
      </p:sp>
      <p:sp>
        <p:nvSpPr>
          <p:cNvPr id="213" name="Google Shape;213;p10"/>
          <p:cNvSpPr txBox="1"/>
          <p:nvPr/>
        </p:nvSpPr>
        <p:spPr>
          <a:xfrm>
            <a:off x="7882127" y="3218688"/>
            <a:ext cx="1874519"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100">
                <a:solidFill>
                  <a:srgbClr val="12203A"/>
                </a:solidFill>
                <a:latin typeface="Arial"/>
                <a:ea typeface="Arial"/>
                <a:cs typeface="Arial"/>
                <a:sym typeface="Arial"/>
              </a:rPr>
              <a:t>hands.js</a:t>
            </a:r>
            <a:endParaRPr/>
          </a:p>
        </p:txBody>
      </p:sp>
      <p:sp>
        <p:nvSpPr>
          <p:cNvPr id="214" name="Google Shape;214;p10"/>
          <p:cNvSpPr txBox="1"/>
          <p:nvPr/>
        </p:nvSpPr>
        <p:spPr>
          <a:xfrm>
            <a:off x="9802368" y="3218688"/>
            <a:ext cx="17373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100">
                <a:solidFill>
                  <a:srgbClr val="6B7A90"/>
                </a:solidFill>
                <a:latin typeface="Arial"/>
                <a:ea typeface="Arial"/>
                <a:cs typeface="Arial"/>
                <a:sym typeface="Arial"/>
              </a:rPr>
              <a:t>손 그림 SVG</a:t>
            </a:r>
            <a:endParaRPr/>
          </a:p>
        </p:txBody>
      </p:sp>
      <p:sp>
        <p:nvSpPr>
          <p:cNvPr id="215" name="Google Shape;215;p10"/>
          <p:cNvSpPr txBox="1"/>
          <p:nvPr/>
        </p:nvSpPr>
        <p:spPr>
          <a:xfrm>
            <a:off x="7882127" y="3639312"/>
            <a:ext cx="1874519"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100">
                <a:solidFill>
                  <a:srgbClr val="12203A"/>
                </a:solidFill>
                <a:latin typeface="Arial"/>
                <a:ea typeface="Arial"/>
                <a:cs typeface="Arial"/>
                <a:sym typeface="Arial"/>
              </a:rPr>
              <a:t>serial.js</a:t>
            </a:r>
            <a:endParaRPr/>
          </a:p>
        </p:txBody>
      </p:sp>
      <p:sp>
        <p:nvSpPr>
          <p:cNvPr id="216" name="Google Shape;216;p10"/>
          <p:cNvSpPr txBox="1"/>
          <p:nvPr/>
        </p:nvSpPr>
        <p:spPr>
          <a:xfrm>
            <a:off x="9802368" y="3639312"/>
            <a:ext cx="17373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100">
                <a:solidFill>
                  <a:srgbClr val="6B7A90"/>
                </a:solidFill>
                <a:latin typeface="Arial"/>
                <a:ea typeface="Arial"/>
                <a:cs typeface="Arial"/>
                <a:sym typeface="Arial"/>
              </a:rPr>
              <a:t>아두이노 통신</a:t>
            </a:r>
            <a:endParaRPr/>
          </a:p>
        </p:txBody>
      </p:sp>
      <p:sp>
        <p:nvSpPr>
          <p:cNvPr id="217" name="Google Shape;217;p10"/>
          <p:cNvSpPr txBox="1"/>
          <p:nvPr/>
        </p:nvSpPr>
        <p:spPr>
          <a:xfrm>
            <a:off x="7882127" y="4059936"/>
            <a:ext cx="1874519"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100">
                <a:solidFill>
                  <a:srgbClr val="12203A"/>
                </a:solidFill>
                <a:latin typeface="Arial"/>
                <a:ea typeface="Arial"/>
                <a:cs typeface="Arial"/>
                <a:sym typeface="Arial"/>
              </a:rPr>
              <a:t>app.js</a:t>
            </a:r>
            <a:endParaRPr/>
          </a:p>
        </p:txBody>
      </p:sp>
      <p:sp>
        <p:nvSpPr>
          <p:cNvPr id="218" name="Google Shape;218;p10"/>
          <p:cNvSpPr txBox="1"/>
          <p:nvPr/>
        </p:nvSpPr>
        <p:spPr>
          <a:xfrm>
            <a:off x="9802368" y="4059936"/>
            <a:ext cx="17373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100">
                <a:solidFill>
                  <a:srgbClr val="6B7A90"/>
                </a:solidFill>
                <a:latin typeface="Arial"/>
                <a:ea typeface="Arial"/>
                <a:cs typeface="Arial"/>
                <a:sym typeface="Arial"/>
              </a:rPr>
              <a:t>운지 판정 로직</a:t>
            </a:r>
            <a:endParaRPr/>
          </a:p>
        </p:txBody>
      </p:sp>
      <p:sp>
        <p:nvSpPr>
          <p:cNvPr id="219" name="Google Shape;219;p10"/>
          <p:cNvSpPr txBox="1"/>
          <p:nvPr/>
        </p:nvSpPr>
        <p:spPr>
          <a:xfrm>
            <a:off x="7882127" y="4480560"/>
            <a:ext cx="1874519"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100">
                <a:solidFill>
                  <a:srgbClr val="12203A"/>
                </a:solidFill>
                <a:latin typeface="Arial"/>
                <a:ea typeface="Arial"/>
                <a:cs typeface="Arial"/>
                <a:sym typeface="Arial"/>
              </a:rPr>
              <a:t>history.js</a:t>
            </a:r>
            <a:endParaRPr/>
          </a:p>
        </p:txBody>
      </p:sp>
      <p:sp>
        <p:nvSpPr>
          <p:cNvPr id="220" name="Google Shape;220;p10"/>
          <p:cNvSpPr txBox="1"/>
          <p:nvPr/>
        </p:nvSpPr>
        <p:spPr>
          <a:xfrm>
            <a:off x="9802368" y="4480560"/>
            <a:ext cx="17373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100">
                <a:solidFill>
                  <a:srgbClr val="6B7A90"/>
                </a:solidFill>
                <a:latin typeface="Arial"/>
                <a:ea typeface="Arial"/>
                <a:cs typeface="Arial"/>
                <a:sym typeface="Arial"/>
              </a:rPr>
              <a:t>기록·그래프</a:t>
            </a:r>
            <a:endParaRPr/>
          </a:p>
        </p:txBody>
      </p:sp>
      <p:sp>
        <p:nvSpPr>
          <p:cNvPr id="221" name="Google Shape;221;p10"/>
          <p:cNvSpPr txBox="1"/>
          <p:nvPr/>
        </p:nvSpPr>
        <p:spPr>
          <a:xfrm>
            <a:off x="7882127" y="4901184"/>
            <a:ext cx="1874519"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100">
                <a:solidFill>
                  <a:srgbClr val="12203A"/>
                </a:solidFill>
                <a:latin typeface="Arial"/>
                <a:ea typeface="Arial"/>
                <a:cs typeface="Arial"/>
                <a:sym typeface="Arial"/>
              </a:rPr>
              <a:t>finger_guide.ino</a:t>
            </a:r>
            <a:endParaRPr/>
          </a:p>
        </p:txBody>
      </p:sp>
      <p:sp>
        <p:nvSpPr>
          <p:cNvPr id="222" name="Google Shape;222;p10"/>
          <p:cNvSpPr txBox="1"/>
          <p:nvPr/>
        </p:nvSpPr>
        <p:spPr>
          <a:xfrm>
            <a:off x="9802368" y="4901184"/>
            <a:ext cx="17373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100">
                <a:solidFill>
                  <a:srgbClr val="6B7A90"/>
                </a:solidFill>
                <a:latin typeface="Arial"/>
                <a:ea typeface="Arial"/>
                <a:cs typeface="Arial"/>
                <a:sym typeface="Arial"/>
              </a:rPr>
              <a:t>매트릭스 스캔</a:t>
            </a:r>
            <a:endParaRPr/>
          </a:p>
        </p:txBody>
      </p:sp>
      <p:sp>
        <p:nvSpPr>
          <p:cNvPr id="223" name="Google Shape;223;p10"/>
          <p:cNvSpPr txBox="1"/>
          <p:nvPr/>
        </p:nvSpPr>
        <p:spPr>
          <a:xfrm>
            <a:off x="713232" y="5623560"/>
            <a:ext cx="107899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6B7A90"/>
                </a:solidFill>
                <a:latin typeface="Arial"/>
                <a:ea typeface="Arial"/>
                <a:cs typeface="Arial"/>
                <a:sym typeface="Arial"/>
              </a:rPr>
              <a:t>라이브러리를 쓰지 않고 손 그림·그래프·통신까지 전부 직접 만들었습니다</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1"/>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29" name="Google Shape;229;p11"/>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04. 결과와 발전 방안</a:t>
            </a:r>
            <a:endParaRPr/>
          </a:p>
        </p:txBody>
      </p:sp>
      <p:sp>
        <p:nvSpPr>
          <p:cNvPr id="230" name="Google Shape;230;p11"/>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우리만 잴 수 있는 점수 — 올바른 운지율</a:t>
            </a:r>
            <a:endParaRPr/>
          </a:p>
        </p:txBody>
      </p:sp>
      <p:sp>
        <p:nvSpPr>
          <p:cNvPr id="231" name="Google Shape;231;p11"/>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11 / 14</a:t>
            </a:r>
            <a:endParaRPr/>
          </a:p>
        </p:txBody>
      </p:sp>
      <p:sp>
        <p:nvSpPr>
          <p:cNvPr id="232" name="Google Shape;232;p11"/>
          <p:cNvSpPr/>
          <p:nvPr/>
        </p:nvSpPr>
        <p:spPr>
          <a:xfrm>
            <a:off x="685800" y="1691640"/>
            <a:ext cx="3429000" cy="219456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33" name="Google Shape;233;p11"/>
          <p:cNvSpPr txBox="1"/>
          <p:nvPr/>
        </p:nvSpPr>
        <p:spPr>
          <a:xfrm>
            <a:off x="960120" y="1874519"/>
            <a:ext cx="2880360" cy="45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900">
                <a:solidFill>
                  <a:srgbClr val="6B7A90"/>
                </a:solidFill>
                <a:latin typeface="Arial"/>
                <a:ea typeface="Arial"/>
                <a:cs typeface="Arial"/>
                <a:sym typeface="Arial"/>
              </a:rPr>
              <a:t>타수</a:t>
            </a:r>
            <a:endParaRPr/>
          </a:p>
        </p:txBody>
      </p:sp>
      <p:sp>
        <p:nvSpPr>
          <p:cNvPr id="234" name="Google Shape;234;p11"/>
          <p:cNvSpPr txBox="1"/>
          <p:nvPr/>
        </p:nvSpPr>
        <p:spPr>
          <a:xfrm>
            <a:off x="960120" y="2487168"/>
            <a:ext cx="2880360" cy="914400"/>
          </a:xfrm>
          <a:prstGeom prst="rect">
            <a:avLst/>
          </a:prstGeom>
          <a:noFill/>
          <a:ln>
            <a:noFill/>
          </a:ln>
        </p:spPr>
        <p:txBody>
          <a:bodyPr anchorCtr="0" anchor="t" bIns="45700" lIns="91425" spcFirstLastPara="1" rIns="91425" wrap="square" tIns="45700">
            <a:spAutoFit/>
          </a:bodyPr>
          <a:lstStyle/>
          <a:p>
            <a:pPr indent="0" lvl="0" marL="0" marR="0" rtl="0" algn="l">
              <a:lnSpc>
                <a:spcPct val="135000"/>
              </a:lnSpc>
              <a:spcBef>
                <a:spcPts val="0"/>
              </a:spcBef>
              <a:spcAft>
                <a:spcPts val="0"/>
              </a:spcAft>
              <a:buNone/>
            </a:pPr>
            <a:r>
              <a:rPr b="0" lang="ko-KR" sz="1300">
                <a:solidFill>
                  <a:srgbClr val="12203A"/>
                </a:solidFill>
                <a:latin typeface="Arial"/>
                <a:ea typeface="Arial"/>
                <a:cs typeface="Arial"/>
                <a:sym typeface="Arial"/>
              </a:rPr>
              <a:t>분당 타이핑 수</a:t>
            </a:r>
            <a:endParaRPr/>
          </a:p>
        </p:txBody>
      </p:sp>
      <p:sp>
        <p:nvSpPr>
          <p:cNvPr id="235" name="Google Shape;235;p11"/>
          <p:cNvSpPr txBox="1"/>
          <p:nvPr/>
        </p:nvSpPr>
        <p:spPr>
          <a:xfrm>
            <a:off x="960120" y="3429000"/>
            <a:ext cx="28803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200">
                <a:solidFill>
                  <a:srgbClr val="6B7A90"/>
                </a:solidFill>
                <a:latin typeface="Arial"/>
                <a:ea typeface="Arial"/>
                <a:cs typeface="Arial"/>
                <a:sym typeface="Arial"/>
              </a:rPr>
              <a:t>기존에도 측정</a:t>
            </a:r>
            <a:endParaRPr/>
          </a:p>
        </p:txBody>
      </p:sp>
      <p:sp>
        <p:nvSpPr>
          <p:cNvPr id="236" name="Google Shape;236;p11"/>
          <p:cNvSpPr/>
          <p:nvPr/>
        </p:nvSpPr>
        <p:spPr>
          <a:xfrm>
            <a:off x="4389120" y="1691640"/>
            <a:ext cx="3429000" cy="219456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37" name="Google Shape;237;p11"/>
          <p:cNvSpPr txBox="1"/>
          <p:nvPr/>
        </p:nvSpPr>
        <p:spPr>
          <a:xfrm>
            <a:off x="4663440" y="1874519"/>
            <a:ext cx="2880360" cy="45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900">
                <a:solidFill>
                  <a:srgbClr val="6B7A90"/>
                </a:solidFill>
                <a:latin typeface="Arial"/>
                <a:ea typeface="Arial"/>
                <a:cs typeface="Arial"/>
                <a:sym typeface="Arial"/>
              </a:rPr>
              <a:t>정확도</a:t>
            </a:r>
            <a:endParaRPr/>
          </a:p>
        </p:txBody>
      </p:sp>
      <p:sp>
        <p:nvSpPr>
          <p:cNvPr id="238" name="Google Shape;238;p11"/>
          <p:cNvSpPr txBox="1"/>
          <p:nvPr/>
        </p:nvSpPr>
        <p:spPr>
          <a:xfrm>
            <a:off x="4663440" y="2487168"/>
            <a:ext cx="2880360" cy="914400"/>
          </a:xfrm>
          <a:prstGeom prst="rect">
            <a:avLst/>
          </a:prstGeom>
          <a:noFill/>
          <a:ln>
            <a:noFill/>
          </a:ln>
        </p:spPr>
        <p:txBody>
          <a:bodyPr anchorCtr="0" anchor="t" bIns="45700" lIns="91425" spcFirstLastPara="1" rIns="91425" wrap="square" tIns="45700">
            <a:spAutoFit/>
          </a:bodyPr>
          <a:lstStyle/>
          <a:p>
            <a:pPr indent="0" lvl="0" marL="0" marR="0" rtl="0" algn="l">
              <a:lnSpc>
                <a:spcPct val="135000"/>
              </a:lnSpc>
              <a:spcBef>
                <a:spcPts val="0"/>
              </a:spcBef>
              <a:spcAft>
                <a:spcPts val="0"/>
              </a:spcAft>
              <a:buNone/>
            </a:pPr>
            <a:r>
              <a:rPr b="0" lang="ko-KR" sz="1300">
                <a:solidFill>
                  <a:srgbClr val="12203A"/>
                </a:solidFill>
                <a:latin typeface="Arial"/>
                <a:ea typeface="Arial"/>
                <a:cs typeface="Arial"/>
                <a:sym typeface="Arial"/>
              </a:rPr>
              <a:t>맞은 글자 / 전체 글자 × 100</a:t>
            </a:r>
            <a:endParaRPr/>
          </a:p>
        </p:txBody>
      </p:sp>
      <p:sp>
        <p:nvSpPr>
          <p:cNvPr id="239" name="Google Shape;239;p11"/>
          <p:cNvSpPr txBox="1"/>
          <p:nvPr/>
        </p:nvSpPr>
        <p:spPr>
          <a:xfrm>
            <a:off x="4663440" y="3429000"/>
            <a:ext cx="28803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200">
                <a:solidFill>
                  <a:srgbClr val="6B7A90"/>
                </a:solidFill>
                <a:latin typeface="Arial"/>
                <a:ea typeface="Arial"/>
                <a:cs typeface="Arial"/>
                <a:sym typeface="Arial"/>
              </a:rPr>
              <a:t>기존에도 측정</a:t>
            </a:r>
            <a:endParaRPr/>
          </a:p>
        </p:txBody>
      </p:sp>
      <p:sp>
        <p:nvSpPr>
          <p:cNvPr id="240" name="Google Shape;240;p11"/>
          <p:cNvSpPr/>
          <p:nvPr/>
        </p:nvSpPr>
        <p:spPr>
          <a:xfrm>
            <a:off x="8092440" y="1691640"/>
            <a:ext cx="3429000" cy="2194560"/>
          </a:xfrm>
          <a:prstGeom prst="roundRect">
            <a:avLst>
              <a:gd fmla="val 6000" name="adj"/>
            </a:avLst>
          </a:prstGeom>
          <a:solidFill>
            <a:srgbClr val="E8F1FE"/>
          </a:solidFill>
          <a:ln cap="flat" cmpd="sng" w="25400">
            <a:solidFill>
              <a:srgbClr val="1F6F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41" name="Google Shape;241;p11"/>
          <p:cNvSpPr txBox="1"/>
          <p:nvPr/>
        </p:nvSpPr>
        <p:spPr>
          <a:xfrm>
            <a:off x="8366760" y="1874519"/>
            <a:ext cx="2880360" cy="45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200">
                <a:solidFill>
                  <a:srgbClr val="032994"/>
                </a:solidFill>
                <a:latin typeface="Arial"/>
                <a:ea typeface="Arial"/>
                <a:cs typeface="Arial"/>
                <a:sym typeface="Arial"/>
              </a:rPr>
              <a:t>올바른 운지율</a:t>
            </a:r>
            <a:endParaRPr/>
          </a:p>
        </p:txBody>
      </p:sp>
      <p:sp>
        <p:nvSpPr>
          <p:cNvPr id="242" name="Google Shape;242;p11"/>
          <p:cNvSpPr txBox="1"/>
          <p:nvPr/>
        </p:nvSpPr>
        <p:spPr>
          <a:xfrm>
            <a:off x="8366760" y="2487168"/>
            <a:ext cx="2880360" cy="914400"/>
          </a:xfrm>
          <a:prstGeom prst="rect">
            <a:avLst/>
          </a:prstGeom>
          <a:noFill/>
          <a:ln>
            <a:noFill/>
          </a:ln>
        </p:spPr>
        <p:txBody>
          <a:bodyPr anchorCtr="0" anchor="t" bIns="45700" lIns="91425" spcFirstLastPara="1" rIns="91425" wrap="square" tIns="45700">
            <a:spAutoFit/>
          </a:bodyPr>
          <a:lstStyle/>
          <a:p>
            <a:pPr indent="0" lvl="0" marL="0" marR="0" rtl="0" algn="l">
              <a:lnSpc>
                <a:spcPct val="135000"/>
              </a:lnSpc>
              <a:spcBef>
                <a:spcPts val="0"/>
              </a:spcBef>
              <a:spcAft>
                <a:spcPts val="0"/>
              </a:spcAft>
              <a:buNone/>
            </a:pPr>
            <a:r>
              <a:rPr b="0" lang="ko-KR" sz="1300">
                <a:solidFill>
                  <a:srgbClr val="12203A"/>
                </a:solidFill>
                <a:latin typeface="Arial"/>
                <a:ea typeface="Arial"/>
                <a:cs typeface="Arial"/>
                <a:sym typeface="Arial"/>
              </a:rPr>
              <a:t>올바른 손가락으로 친 횟수</a:t>
            </a:r>
            <a:endParaRPr/>
          </a:p>
          <a:p>
            <a:pPr indent="0" lvl="0" marL="0" marR="0" rtl="0" algn="l">
              <a:lnSpc>
                <a:spcPct val="135000"/>
              </a:lnSpc>
              <a:spcBef>
                <a:spcPts val="0"/>
              </a:spcBef>
              <a:spcAft>
                <a:spcPts val="0"/>
              </a:spcAft>
              <a:buNone/>
            </a:pPr>
            <a:r>
              <a:rPr b="0" lang="ko-KR" sz="1300">
                <a:solidFill>
                  <a:srgbClr val="12203A"/>
                </a:solidFill>
                <a:latin typeface="Arial"/>
                <a:ea typeface="Arial"/>
                <a:cs typeface="Arial"/>
                <a:sym typeface="Arial"/>
              </a:rPr>
              <a:t>/ 전체 타건 수 × 100</a:t>
            </a:r>
            <a:endParaRPr/>
          </a:p>
        </p:txBody>
      </p:sp>
      <p:sp>
        <p:nvSpPr>
          <p:cNvPr id="243" name="Google Shape;243;p11"/>
          <p:cNvSpPr txBox="1"/>
          <p:nvPr/>
        </p:nvSpPr>
        <p:spPr>
          <a:xfrm>
            <a:off x="8366760" y="3429000"/>
            <a:ext cx="28803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200">
                <a:solidFill>
                  <a:srgbClr val="1F6FEB"/>
                </a:solidFill>
                <a:latin typeface="Arial"/>
                <a:ea typeface="Arial"/>
                <a:cs typeface="Arial"/>
                <a:sym typeface="Arial"/>
              </a:rPr>
              <a:t>우리 작품만 측정 가능</a:t>
            </a:r>
            <a:endParaRPr/>
          </a:p>
        </p:txBody>
      </p:sp>
      <p:sp>
        <p:nvSpPr>
          <p:cNvPr id="244" name="Google Shape;244;p11"/>
          <p:cNvSpPr/>
          <p:nvPr/>
        </p:nvSpPr>
        <p:spPr>
          <a:xfrm>
            <a:off x="685800" y="4114800"/>
            <a:ext cx="10835640" cy="118872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45" name="Google Shape;245;p11"/>
          <p:cNvSpPr txBox="1"/>
          <p:nvPr/>
        </p:nvSpPr>
        <p:spPr>
          <a:xfrm>
            <a:off x="960120" y="4279392"/>
            <a:ext cx="10058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500">
                <a:solidFill>
                  <a:srgbClr val="032994"/>
                </a:solidFill>
                <a:latin typeface="Arial"/>
                <a:ea typeface="Arial"/>
                <a:cs typeface="Arial"/>
                <a:sym typeface="Arial"/>
              </a:rPr>
              <a:t>그리고 기록한다 — localStorage + 직접 그린 SVG 그래프</a:t>
            </a:r>
            <a:endParaRPr/>
          </a:p>
        </p:txBody>
      </p:sp>
      <p:sp>
        <p:nvSpPr>
          <p:cNvPr id="246" name="Google Shape;246;p11"/>
          <p:cNvSpPr txBox="1"/>
          <p:nvPr/>
        </p:nvSpPr>
        <p:spPr>
          <a:xfrm>
            <a:off x="960120" y="4709160"/>
            <a:ext cx="10241280" cy="45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12203A"/>
                </a:solidFill>
                <a:latin typeface="Arial"/>
                <a:ea typeface="Arial"/>
                <a:cs typeface="Arial"/>
                <a:sym typeface="Arial"/>
              </a:rPr>
              <a:t>· 연습 세션마다 운지율·정확도·타수 저장    · 꺾은선 그래프로 향상 추이 표시    · 60% 미만 '약한 손가락' 자동 표시</a:t>
            </a:r>
            <a:endParaRPr/>
          </a:p>
        </p:txBody>
      </p:sp>
      <p:sp>
        <p:nvSpPr>
          <p:cNvPr id="247" name="Google Shape;247;p11"/>
          <p:cNvSpPr txBox="1"/>
          <p:nvPr/>
        </p:nvSpPr>
        <p:spPr>
          <a:xfrm>
            <a:off x="713232" y="5532120"/>
            <a:ext cx="107899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300">
                <a:solidFill>
                  <a:srgbClr val="6B7A90"/>
                </a:solidFill>
                <a:latin typeface="Arial"/>
                <a:ea typeface="Arial"/>
                <a:cs typeface="Arial"/>
                <a:sym typeface="Arial"/>
              </a:rPr>
              <a:t>키 입력(웹앱) + 손가락 신호(아두이노)를 합쳐야만 나오는 숫자 — 습관이 좋아지는 과정을 눈으로 확인</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2"/>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53" name="Google Shape;253;p12"/>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04. 결과와 발전 방안</a:t>
            </a:r>
            <a:endParaRPr/>
          </a:p>
        </p:txBody>
      </p:sp>
      <p:sp>
        <p:nvSpPr>
          <p:cNvPr id="254" name="Google Shape;254;p12"/>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제작 현황과 남은 계획</a:t>
            </a:r>
            <a:endParaRPr/>
          </a:p>
        </p:txBody>
      </p:sp>
      <p:sp>
        <p:nvSpPr>
          <p:cNvPr id="255" name="Google Shape;255;p12"/>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12 / 14</a:t>
            </a:r>
            <a:endParaRPr/>
          </a:p>
        </p:txBody>
      </p:sp>
      <p:sp>
        <p:nvSpPr>
          <p:cNvPr id="256" name="Google Shape;256;p12"/>
          <p:cNvSpPr/>
          <p:nvPr/>
        </p:nvSpPr>
        <p:spPr>
          <a:xfrm>
            <a:off x="685800" y="1691640"/>
            <a:ext cx="10835640" cy="73152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57" name="Google Shape;257;p12"/>
          <p:cNvSpPr/>
          <p:nvPr/>
        </p:nvSpPr>
        <p:spPr>
          <a:xfrm>
            <a:off x="932688" y="1938528"/>
            <a:ext cx="237744" cy="237744"/>
          </a:xfrm>
          <a:prstGeom prst="ellipse">
            <a:avLst/>
          </a:prstGeom>
          <a:solidFill>
            <a:srgbClr val="16A3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58" name="Google Shape;258;p12"/>
          <p:cNvSpPr txBox="1"/>
          <p:nvPr/>
        </p:nvSpPr>
        <p:spPr>
          <a:xfrm>
            <a:off x="1353312" y="1874520"/>
            <a:ext cx="27432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700">
                <a:solidFill>
                  <a:srgbClr val="12203A"/>
                </a:solidFill>
                <a:latin typeface="Arial"/>
                <a:ea typeface="Arial"/>
                <a:cs typeface="Arial"/>
                <a:sym typeface="Arial"/>
              </a:rPr>
              <a:t>웹 타자연습 앱</a:t>
            </a:r>
            <a:endParaRPr/>
          </a:p>
        </p:txBody>
      </p:sp>
      <p:sp>
        <p:nvSpPr>
          <p:cNvPr id="259" name="Google Shape;259;p12"/>
          <p:cNvSpPr txBox="1"/>
          <p:nvPr/>
        </p:nvSpPr>
        <p:spPr>
          <a:xfrm>
            <a:off x="4526280" y="1901952"/>
            <a:ext cx="54864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400">
                <a:solidFill>
                  <a:srgbClr val="6B7A90"/>
                </a:solidFill>
                <a:latin typeface="Arial"/>
                <a:ea typeface="Arial"/>
                <a:cs typeface="Arial"/>
                <a:sym typeface="Arial"/>
              </a:rPr>
              <a:t>완성 · 인터넷 배포 완료</a:t>
            </a:r>
            <a:endParaRPr/>
          </a:p>
        </p:txBody>
      </p:sp>
      <p:sp>
        <p:nvSpPr>
          <p:cNvPr id="260" name="Google Shape;260;p12"/>
          <p:cNvSpPr txBox="1"/>
          <p:nvPr/>
        </p:nvSpPr>
        <p:spPr>
          <a:xfrm>
            <a:off x="10058400" y="1901952"/>
            <a:ext cx="1371600" cy="36576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1" lang="ko-KR" sz="1300">
                <a:solidFill>
                  <a:srgbClr val="16A34A"/>
                </a:solidFill>
                <a:latin typeface="Arial"/>
                <a:ea typeface="Arial"/>
                <a:cs typeface="Arial"/>
                <a:sym typeface="Arial"/>
              </a:rPr>
              <a:t>완료</a:t>
            </a:r>
            <a:endParaRPr/>
          </a:p>
        </p:txBody>
      </p:sp>
      <p:sp>
        <p:nvSpPr>
          <p:cNvPr id="261" name="Google Shape;261;p12"/>
          <p:cNvSpPr/>
          <p:nvPr/>
        </p:nvSpPr>
        <p:spPr>
          <a:xfrm>
            <a:off x="685800" y="2560320"/>
            <a:ext cx="10835640" cy="73152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62" name="Google Shape;262;p12"/>
          <p:cNvSpPr/>
          <p:nvPr/>
        </p:nvSpPr>
        <p:spPr>
          <a:xfrm>
            <a:off x="932688" y="2807208"/>
            <a:ext cx="237744" cy="237744"/>
          </a:xfrm>
          <a:prstGeom prst="ellipse">
            <a:avLst/>
          </a:prstGeom>
          <a:solidFill>
            <a:srgbClr val="1F6F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63" name="Google Shape;263;p12"/>
          <p:cNvSpPr txBox="1"/>
          <p:nvPr/>
        </p:nvSpPr>
        <p:spPr>
          <a:xfrm>
            <a:off x="1353312" y="2743200"/>
            <a:ext cx="27432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700">
                <a:solidFill>
                  <a:srgbClr val="12203A"/>
                </a:solidFill>
                <a:latin typeface="Arial"/>
                <a:ea typeface="Arial"/>
                <a:cs typeface="Arial"/>
                <a:sym typeface="Arial"/>
              </a:rPr>
              <a:t>아두이노 감지부</a:t>
            </a:r>
            <a:endParaRPr/>
          </a:p>
        </p:txBody>
      </p:sp>
      <p:sp>
        <p:nvSpPr>
          <p:cNvPr id="264" name="Google Shape;264;p12"/>
          <p:cNvSpPr txBox="1"/>
          <p:nvPr/>
        </p:nvSpPr>
        <p:spPr>
          <a:xfrm>
            <a:off x="4526280" y="2770632"/>
            <a:ext cx="54864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400">
                <a:solidFill>
                  <a:srgbClr val="6B7A90"/>
                </a:solidFill>
                <a:latin typeface="Arial"/>
                <a:ea typeface="Arial"/>
                <a:cs typeface="Arial"/>
                <a:sym typeface="Arial"/>
              </a:rPr>
              <a:t>매트릭스 스캔 코드 작성 · 배선 제작 중</a:t>
            </a:r>
            <a:endParaRPr/>
          </a:p>
        </p:txBody>
      </p:sp>
      <p:sp>
        <p:nvSpPr>
          <p:cNvPr id="265" name="Google Shape;265;p12"/>
          <p:cNvSpPr txBox="1"/>
          <p:nvPr/>
        </p:nvSpPr>
        <p:spPr>
          <a:xfrm>
            <a:off x="10058400" y="2770632"/>
            <a:ext cx="1371600" cy="36576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1" lang="ko-KR" sz="1300">
                <a:solidFill>
                  <a:srgbClr val="1F6FEB"/>
                </a:solidFill>
                <a:latin typeface="Arial"/>
                <a:ea typeface="Arial"/>
                <a:cs typeface="Arial"/>
                <a:sym typeface="Arial"/>
              </a:rPr>
              <a:t>진행 중</a:t>
            </a:r>
            <a:endParaRPr/>
          </a:p>
        </p:txBody>
      </p:sp>
      <p:sp>
        <p:nvSpPr>
          <p:cNvPr id="266" name="Google Shape;266;p12"/>
          <p:cNvSpPr/>
          <p:nvPr/>
        </p:nvSpPr>
        <p:spPr>
          <a:xfrm>
            <a:off x="685800" y="3429000"/>
            <a:ext cx="10835640" cy="73152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67" name="Google Shape;267;p12"/>
          <p:cNvSpPr/>
          <p:nvPr/>
        </p:nvSpPr>
        <p:spPr>
          <a:xfrm>
            <a:off x="932688" y="3675887"/>
            <a:ext cx="237744" cy="237744"/>
          </a:xfrm>
          <a:prstGeom prst="ellipse">
            <a:avLst/>
          </a:prstGeom>
          <a:solidFill>
            <a:srgbClr val="6B7A9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68" name="Google Shape;268;p12"/>
          <p:cNvSpPr txBox="1"/>
          <p:nvPr/>
        </p:nvSpPr>
        <p:spPr>
          <a:xfrm>
            <a:off x="1353312" y="3611880"/>
            <a:ext cx="27432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700">
                <a:solidFill>
                  <a:srgbClr val="12203A"/>
                </a:solidFill>
                <a:latin typeface="Arial"/>
                <a:ea typeface="Arial"/>
                <a:cs typeface="Arial"/>
                <a:sym typeface="Arial"/>
              </a:rPr>
              <a:t>Web Serial 연동</a:t>
            </a:r>
            <a:endParaRPr/>
          </a:p>
        </p:txBody>
      </p:sp>
      <p:sp>
        <p:nvSpPr>
          <p:cNvPr id="269" name="Google Shape;269;p12"/>
          <p:cNvSpPr txBox="1"/>
          <p:nvPr/>
        </p:nvSpPr>
        <p:spPr>
          <a:xfrm>
            <a:off x="4526280" y="3639312"/>
            <a:ext cx="54864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400">
                <a:solidFill>
                  <a:srgbClr val="6B7A90"/>
                </a:solidFill>
                <a:latin typeface="Arial"/>
                <a:ea typeface="Arial"/>
                <a:cs typeface="Arial"/>
                <a:sym typeface="Arial"/>
              </a:rPr>
              <a:t>프로토콜 설계 완료 · 실물 연결 검증 예정</a:t>
            </a:r>
            <a:endParaRPr/>
          </a:p>
        </p:txBody>
      </p:sp>
      <p:sp>
        <p:nvSpPr>
          <p:cNvPr id="270" name="Google Shape;270;p12"/>
          <p:cNvSpPr txBox="1"/>
          <p:nvPr/>
        </p:nvSpPr>
        <p:spPr>
          <a:xfrm>
            <a:off x="10058400" y="3639312"/>
            <a:ext cx="1371600" cy="36576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1" lang="ko-KR" sz="1300">
                <a:solidFill>
                  <a:srgbClr val="6B7A90"/>
                </a:solidFill>
                <a:latin typeface="Arial"/>
                <a:ea typeface="Arial"/>
                <a:cs typeface="Arial"/>
                <a:sym typeface="Arial"/>
              </a:rPr>
              <a:t>예정</a:t>
            </a:r>
            <a:endParaRPr/>
          </a:p>
        </p:txBody>
      </p:sp>
      <p:sp>
        <p:nvSpPr>
          <p:cNvPr id="271" name="Google Shape;271;p12"/>
          <p:cNvSpPr/>
          <p:nvPr/>
        </p:nvSpPr>
        <p:spPr>
          <a:xfrm>
            <a:off x="685800" y="4297679"/>
            <a:ext cx="10835640" cy="731520"/>
          </a:xfrm>
          <a:prstGeom prst="roundRect">
            <a:avLst>
              <a:gd fmla="val 6000" name="adj"/>
            </a:avLst>
          </a:prstGeom>
          <a:solidFill>
            <a:srgbClr val="FFFFFF"/>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72" name="Google Shape;272;p12"/>
          <p:cNvSpPr/>
          <p:nvPr/>
        </p:nvSpPr>
        <p:spPr>
          <a:xfrm>
            <a:off x="932688" y="4544567"/>
            <a:ext cx="237744" cy="237744"/>
          </a:xfrm>
          <a:prstGeom prst="ellipse">
            <a:avLst/>
          </a:prstGeom>
          <a:solidFill>
            <a:srgbClr val="6B7A9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73" name="Google Shape;273;p12"/>
          <p:cNvSpPr txBox="1"/>
          <p:nvPr/>
        </p:nvSpPr>
        <p:spPr>
          <a:xfrm>
            <a:off x="1353312" y="4480559"/>
            <a:ext cx="27432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700">
                <a:solidFill>
                  <a:srgbClr val="12203A"/>
                </a:solidFill>
                <a:latin typeface="Arial"/>
                <a:ea typeface="Arial"/>
                <a:cs typeface="Arial"/>
                <a:sym typeface="Arial"/>
              </a:rPr>
              <a:t>사용자 테스트</a:t>
            </a:r>
            <a:endParaRPr/>
          </a:p>
        </p:txBody>
      </p:sp>
      <p:sp>
        <p:nvSpPr>
          <p:cNvPr id="274" name="Google Shape;274;p12"/>
          <p:cNvSpPr txBox="1"/>
          <p:nvPr/>
        </p:nvSpPr>
        <p:spPr>
          <a:xfrm>
            <a:off x="4526280" y="4507992"/>
            <a:ext cx="54864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400">
                <a:solidFill>
                  <a:srgbClr val="6B7A90"/>
                </a:solidFill>
                <a:latin typeface="Arial"/>
                <a:ea typeface="Arial"/>
                <a:cs typeface="Arial"/>
                <a:sym typeface="Arial"/>
              </a:rPr>
              <a:t>친구 3~5명 · 운지율 향상 검증</a:t>
            </a:r>
            <a:endParaRPr/>
          </a:p>
        </p:txBody>
      </p:sp>
      <p:sp>
        <p:nvSpPr>
          <p:cNvPr id="275" name="Google Shape;275;p12"/>
          <p:cNvSpPr txBox="1"/>
          <p:nvPr/>
        </p:nvSpPr>
        <p:spPr>
          <a:xfrm>
            <a:off x="10058400" y="4507992"/>
            <a:ext cx="1371600" cy="36576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1" lang="ko-KR" sz="1300">
                <a:solidFill>
                  <a:srgbClr val="6B7A90"/>
                </a:solidFill>
                <a:latin typeface="Arial"/>
                <a:ea typeface="Arial"/>
                <a:cs typeface="Arial"/>
                <a:sym typeface="Arial"/>
              </a:rPr>
              <a:t>예정</a:t>
            </a:r>
            <a:endParaRPr/>
          </a:p>
        </p:txBody>
      </p:sp>
      <p:sp>
        <p:nvSpPr>
          <p:cNvPr id="276" name="Google Shape;276;p12"/>
          <p:cNvSpPr/>
          <p:nvPr/>
        </p:nvSpPr>
        <p:spPr>
          <a:xfrm>
            <a:off x="685800" y="5212080"/>
            <a:ext cx="10835640" cy="685800"/>
          </a:xfrm>
          <a:prstGeom prst="roundRect">
            <a:avLst>
              <a:gd fmla="val 6000" name="adj"/>
            </a:avLst>
          </a:prstGeom>
          <a:solidFill>
            <a:srgbClr val="E8F1FE"/>
          </a:solidFill>
          <a:ln cap="flat" cmpd="sng" w="15875">
            <a:solidFill>
              <a:srgbClr val="1F6FEB"/>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ctr">
              <a:lnSpc>
                <a:spcPct val="120000"/>
              </a:lnSpc>
              <a:spcBef>
                <a:spcPts val="0"/>
              </a:spcBef>
              <a:spcAft>
                <a:spcPts val="0"/>
              </a:spcAft>
              <a:buNone/>
            </a:pPr>
            <a:r>
              <a:rPr b="1" lang="ko-KR" sz="1600">
                <a:solidFill>
                  <a:srgbClr val="12203A"/>
                </a:solidFill>
                <a:latin typeface="Arial"/>
                <a:ea typeface="Arial"/>
                <a:cs typeface="Arial"/>
                <a:sym typeface="Arial"/>
              </a:rPr>
              <a:t>본선까지: 손가락 8개 전체 배선 완성 → 실제 친구들과 운지율 향상 테스트</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3"/>
          <p:cNvSpPr/>
          <p:nvPr/>
        </p:nvSpPr>
        <p:spPr>
          <a:xfrm>
            <a:off x="502920" y="658368"/>
            <a:ext cx="82296" cy="530352"/>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82" name="Google Shape;282;p13"/>
          <p:cNvSpPr txBox="1"/>
          <p:nvPr/>
        </p:nvSpPr>
        <p:spPr>
          <a:xfrm>
            <a:off x="713232" y="621792"/>
            <a:ext cx="77724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300">
                <a:solidFill>
                  <a:srgbClr val="032994"/>
                </a:solidFill>
                <a:latin typeface="Arial"/>
                <a:ea typeface="Arial"/>
                <a:cs typeface="Arial"/>
                <a:sym typeface="Arial"/>
              </a:rPr>
              <a:t>04. 결과와 발전 방안</a:t>
            </a:r>
            <a:endParaRPr/>
          </a:p>
        </p:txBody>
      </p:sp>
      <p:sp>
        <p:nvSpPr>
          <p:cNvPr id="283" name="Google Shape;283;p13"/>
          <p:cNvSpPr txBox="1"/>
          <p:nvPr/>
        </p:nvSpPr>
        <p:spPr>
          <a:xfrm>
            <a:off x="694944" y="877824"/>
            <a:ext cx="10241280" cy="5486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800">
                <a:solidFill>
                  <a:srgbClr val="12203A"/>
                </a:solidFill>
                <a:latin typeface="Arial"/>
                <a:ea typeface="Arial"/>
                <a:cs typeface="Arial"/>
                <a:sym typeface="Arial"/>
              </a:rPr>
              <a:t>기대 효과와 앞으로</a:t>
            </a:r>
            <a:endParaRPr/>
          </a:p>
        </p:txBody>
      </p:sp>
      <p:sp>
        <p:nvSpPr>
          <p:cNvPr id="284" name="Google Shape;284;p13"/>
          <p:cNvSpPr txBox="1"/>
          <p:nvPr/>
        </p:nvSpPr>
        <p:spPr>
          <a:xfrm>
            <a:off x="10820095" y="658368"/>
            <a:ext cx="822960" cy="27432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None/>
            </a:pPr>
            <a:r>
              <a:rPr b="0" lang="ko-KR" sz="1000">
                <a:solidFill>
                  <a:srgbClr val="6B7A90"/>
                </a:solidFill>
                <a:latin typeface="Arial"/>
                <a:ea typeface="Arial"/>
                <a:cs typeface="Arial"/>
                <a:sym typeface="Arial"/>
              </a:rPr>
              <a:t>13 / 14</a:t>
            </a:r>
            <a:endParaRPr/>
          </a:p>
        </p:txBody>
      </p:sp>
      <p:sp>
        <p:nvSpPr>
          <p:cNvPr id="285" name="Google Shape;285;p13"/>
          <p:cNvSpPr/>
          <p:nvPr/>
        </p:nvSpPr>
        <p:spPr>
          <a:xfrm>
            <a:off x="685800" y="1691640"/>
            <a:ext cx="3429000" cy="1691640"/>
          </a:xfrm>
          <a:prstGeom prst="roundRect">
            <a:avLst>
              <a:gd fmla="val 6000" name="adj"/>
            </a:avLst>
          </a:prstGeom>
          <a:solidFill>
            <a:srgbClr val="E8F1FE"/>
          </a:solidFill>
          <a:ln cap="flat" cmpd="sng" w="15875">
            <a:solidFill>
              <a:srgbClr val="1F6F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86" name="Google Shape;286;p13"/>
          <p:cNvSpPr txBox="1"/>
          <p:nvPr/>
        </p:nvSpPr>
        <p:spPr>
          <a:xfrm>
            <a:off x="978408" y="1920240"/>
            <a:ext cx="288036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800">
                <a:solidFill>
                  <a:srgbClr val="032994"/>
                </a:solidFill>
                <a:latin typeface="Arial"/>
                <a:ea typeface="Arial"/>
                <a:cs typeface="Arial"/>
                <a:sym typeface="Arial"/>
              </a:rPr>
              <a:t>올바른 습관</a:t>
            </a:r>
            <a:endParaRPr/>
          </a:p>
        </p:txBody>
      </p:sp>
      <p:sp>
        <p:nvSpPr>
          <p:cNvPr id="287" name="Google Shape;287;p13"/>
          <p:cNvSpPr txBox="1"/>
          <p:nvPr/>
        </p:nvSpPr>
        <p:spPr>
          <a:xfrm>
            <a:off x="978408" y="2450592"/>
            <a:ext cx="2880360" cy="73152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0" lang="ko-KR" sz="1300">
                <a:solidFill>
                  <a:srgbClr val="12203A"/>
                </a:solidFill>
                <a:latin typeface="Arial"/>
                <a:ea typeface="Arial"/>
                <a:cs typeface="Arial"/>
                <a:sym typeface="Arial"/>
              </a:rPr>
              <a:t>속도 향상 · 손가락 피로 감소</a:t>
            </a:r>
            <a:endParaRPr/>
          </a:p>
        </p:txBody>
      </p:sp>
      <p:sp>
        <p:nvSpPr>
          <p:cNvPr id="288" name="Google Shape;288;p13"/>
          <p:cNvSpPr/>
          <p:nvPr/>
        </p:nvSpPr>
        <p:spPr>
          <a:xfrm>
            <a:off x="4389120" y="1691640"/>
            <a:ext cx="3429000" cy="1691640"/>
          </a:xfrm>
          <a:prstGeom prst="roundRect">
            <a:avLst>
              <a:gd fmla="val 6000" name="adj"/>
            </a:avLst>
          </a:prstGeom>
          <a:solidFill>
            <a:srgbClr val="E8F1FE"/>
          </a:solidFill>
          <a:ln cap="flat" cmpd="sng" w="15875">
            <a:solidFill>
              <a:srgbClr val="1F6F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89" name="Google Shape;289;p13"/>
          <p:cNvSpPr txBox="1"/>
          <p:nvPr/>
        </p:nvSpPr>
        <p:spPr>
          <a:xfrm>
            <a:off x="4681728" y="1920240"/>
            <a:ext cx="288036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800">
                <a:solidFill>
                  <a:srgbClr val="032994"/>
                </a:solidFill>
                <a:latin typeface="Arial"/>
                <a:ea typeface="Arial"/>
                <a:cs typeface="Arial"/>
                <a:sym typeface="Arial"/>
              </a:rPr>
              <a:t>눈에 보이는 성장</a:t>
            </a:r>
            <a:endParaRPr/>
          </a:p>
        </p:txBody>
      </p:sp>
      <p:sp>
        <p:nvSpPr>
          <p:cNvPr id="290" name="Google Shape;290;p13"/>
          <p:cNvSpPr txBox="1"/>
          <p:nvPr/>
        </p:nvSpPr>
        <p:spPr>
          <a:xfrm>
            <a:off x="4681728" y="2450592"/>
            <a:ext cx="2880360" cy="73152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0" lang="ko-KR" sz="1300">
                <a:solidFill>
                  <a:srgbClr val="12203A"/>
                </a:solidFill>
                <a:latin typeface="Arial"/>
                <a:ea typeface="Arial"/>
                <a:cs typeface="Arial"/>
                <a:sym typeface="Arial"/>
              </a:rPr>
              <a:t>운지율 그래프로 동기 부여</a:t>
            </a:r>
            <a:endParaRPr/>
          </a:p>
        </p:txBody>
      </p:sp>
      <p:sp>
        <p:nvSpPr>
          <p:cNvPr id="291" name="Google Shape;291;p13"/>
          <p:cNvSpPr/>
          <p:nvPr/>
        </p:nvSpPr>
        <p:spPr>
          <a:xfrm>
            <a:off x="8092440" y="1691640"/>
            <a:ext cx="3429000" cy="1691640"/>
          </a:xfrm>
          <a:prstGeom prst="roundRect">
            <a:avLst>
              <a:gd fmla="val 6000" name="adj"/>
            </a:avLst>
          </a:prstGeom>
          <a:solidFill>
            <a:srgbClr val="E8F1FE"/>
          </a:solidFill>
          <a:ln cap="flat" cmpd="sng" w="15875">
            <a:solidFill>
              <a:srgbClr val="1F6F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92" name="Google Shape;292;p13"/>
          <p:cNvSpPr txBox="1"/>
          <p:nvPr/>
        </p:nvSpPr>
        <p:spPr>
          <a:xfrm>
            <a:off x="8385048" y="1920240"/>
            <a:ext cx="2880360" cy="4114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800">
                <a:solidFill>
                  <a:srgbClr val="032994"/>
                </a:solidFill>
                <a:latin typeface="Arial"/>
                <a:ea typeface="Arial"/>
                <a:cs typeface="Arial"/>
                <a:sym typeface="Arial"/>
              </a:rPr>
              <a:t>완성형 학습 도구</a:t>
            </a:r>
            <a:endParaRPr/>
          </a:p>
        </p:txBody>
      </p:sp>
      <p:sp>
        <p:nvSpPr>
          <p:cNvPr id="293" name="Google Shape;293;p13"/>
          <p:cNvSpPr txBox="1"/>
          <p:nvPr/>
        </p:nvSpPr>
        <p:spPr>
          <a:xfrm>
            <a:off x="8385048" y="2450592"/>
            <a:ext cx="2880360" cy="73152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0" lang="ko-KR" sz="1300">
                <a:solidFill>
                  <a:srgbClr val="12203A"/>
                </a:solidFill>
                <a:latin typeface="Arial"/>
                <a:ea typeface="Arial"/>
                <a:cs typeface="Arial"/>
                <a:sym typeface="Arial"/>
              </a:rPr>
              <a:t>즉시 교정(HW) + 기록(SW)</a:t>
            </a:r>
            <a:endParaRPr/>
          </a:p>
        </p:txBody>
      </p:sp>
      <p:sp>
        <p:nvSpPr>
          <p:cNvPr id="294" name="Google Shape;294;p13"/>
          <p:cNvSpPr/>
          <p:nvPr/>
        </p:nvSpPr>
        <p:spPr>
          <a:xfrm>
            <a:off x="685800" y="3657600"/>
            <a:ext cx="10835640" cy="1143000"/>
          </a:xfrm>
          <a:prstGeom prst="roundRect">
            <a:avLst>
              <a:gd fmla="val 6000" name="adj"/>
            </a:avLst>
          </a:prstGeom>
          <a:solidFill>
            <a:srgbClr val="F2F6FC"/>
          </a:solidFill>
          <a:ln cap="flat" cmpd="sng" w="15875">
            <a:solidFill>
              <a:srgbClr val="D8E1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95" name="Google Shape;295;p13"/>
          <p:cNvSpPr txBox="1"/>
          <p:nvPr/>
        </p:nvSpPr>
        <p:spPr>
          <a:xfrm>
            <a:off x="960120" y="3822191"/>
            <a:ext cx="100584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1500">
                <a:solidFill>
                  <a:srgbClr val="032994"/>
                </a:solidFill>
                <a:latin typeface="Arial"/>
                <a:ea typeface="Arial"/>
                <a:cs typeface="Arial"/>
                <a:sym typeface="Arial"/>
              </a:rPr>
              <a:t>앞으로</a:t>
            </a:r>
            <a:endParaRPr/>
          </a:p>
        </p:txBody>
      </p:sp>
      <p:sp>
        <p:nvSpPr>
          <p:cNvPr id="296" name="Google Shape;296;p13"/>
          <p:cNvSpPr txBox="1"/>
          <p:nvPr/>
        </p:nvSpPr>
        <p:spPr>
          <a:xfrm>
            <a:off x="960120" y="4206240"/>
            <a:ext cx="10241280" cy="45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ko-KR" sz="1400">
                <a:solidFill>
                  <a:srgbClr val="12203A"/>
                </a:solidFill>
                <a:latin typeface="Arial"/>
                <a:ea typeface="Arial"/>
                <a:cs typeface="Arial"/>
                <a:sym typeface="Arial"/>
              </a:rPr>
              <a:t>장갑 → 손톱 스티커 · 반지형으로 소형화     |     선 없애기(무선화)     |     약한 손가락 분석 → 맞춤 연습 추천</a:t>
            </a:r>
            <a:endParaRPr/>
          </a:p>
        </p:txBody>
      </p:sp>
      <p:sp>
        <p:nvSpPr>
          <p:cNvPr id="297" name="Google Shape;297;p13"/>
          <p:cNvSpPr/>
          <p:nvPr/>
        </p:nvSpPr>
        <p:spPr>
          <a:xfrm>
            <a:off x="685800" y="5074920"/>
            <a:ext cx="4572000" cy="45720"/>
          </a:xfrm>
          <a:prstGeom prst="rect">
            <a:avLst/>
          </a:prstGeom>
          <a:solidFill>
            <a:srgbClr val="0329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98" name="Google Shape;298;p13"/>
          <p:cNvSpPr txBox="1"/>
          <p:nvPr/>
        </p:nvSpPr>
        <p:spPr>
          <a:xfrm>
            <a:off x="658368" y="5257800"/>
            <a:ext cx="10515600" cy="82296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ko-KR" sz="2400">
                <a:solidFill>
                  <a:srgbClr val="032994"/>
                </a:solidFill>
                <a:latin typeface="Arial"/>
                <a:ea typeface="Arial"/>
                <a:cs typeface="Arial"/>
                <a:sym typeface="Arial"/>
              </a:rPr>
              <a:t>손가락이 제자리를 찾도록, 키보드가 알려주고 화면이 기록합니다.</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4"/>
          <p:cNvSpPr txBox="1"/>
          <p:nvPr/>
        </p:nvSpPr>
        <p:spPr>
          <a:xfrm>
            <a:off x="1445777" y="1820130"/>
            <a:ext cx="7079400" cy="1519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Arial"/>
              <a:buNone/>
            </a:pPr>
            <a:r>
              <a:rPr b="1" lang="ko-KR" sz="6900">
                <a:solidFill>
                  <a:schemeClr val="dk1"/>
                </a:solidFill>
              </a:rPr>
              <a:t>감사합니다.</a:t>
            </a:r>
            <a:endParaRPr b="1" sz="6900">
              <a:solidFill>
                <a:schemeClr val="dk1"/>
              </a:solidFill>
            </a:endParaRPr>
          </a:p>
          <a:p>
            <a:pPr indent="0" lvl="0" marL="0" marR="0" rtl="0" algn="l">
              <a:lnSpc>
                <a:spcPct val="90000"/>
              </a:lnSpc>
              <a:spcBef>
                <a:spcPts val="0"/>
              </a:spcBef>
              <a:spcAft>
                <a:spcPts val="0"/>
              </a:spcAft>
              <a:buClr>
                <a:schemeClr val="dk1"/>
              </a:buClr>
              <a:buSzPts val="6000"/>
              <a:buFont typeface="Arial"/>
              <a:buNone/>
            </a:pPr>
            <a:r>
              <a:t/>
            </a:r>
            <a:endParaRPr b="1" sz="2500">
              <a:solidFill>
                <a:schemeClr val="dk1"/>
              </a:solidFill>
            </a:endParaRPr>
          </a:p>
          <a:p>
            <a:pPr indent="0" lvl="0" marL="0" marR="0" rtl="0" algn="l">
              <a:lnSpc>
                <a:spcPct val="90000"/>
              </a:lnSpc>
              <a:spcBef>
                <a:spcPts val="0"/>
              </a:spcBef>
              <a:spcAft>
                <a:spcPts val="0"/>
              </a:spcAft>
              <a:buClr>
                <a:schemeClr val="dk1"/>
              </a:buClr>
              <a:buSzPts val="6000"/>
              <a:buFont typeface="Arial"/>
              <a:buNone/>
            </a:pPr>
            <a:r>
              <a:rPr b="1" lang="ko-KR" sz="2500">
                <a:solidFill>
                  <a:schemeClr val="dk1"/>
                </a:solidFill>
              </a:rPr>
              <a:t>결국 타자의 핵심은 치는 데 있는게 아니라 어느 손가락으로 쳤는지입니다.</a:t>
            </a:r>
            <a:endParaRPr b="1" sz="2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2024-11-26T00:48:27Z</dcterms:created>
  <dc:creator>아이엘</dc:creator>
</cp:coreProperties>
</file>